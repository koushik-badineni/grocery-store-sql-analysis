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62" r:id="rId3"/>
    <p:sldId id="304" r:id="rId4"/>
    <p:sldId id="305"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9" r:id="rId20"/>
    <p:sldId id="296" r:id="rId21"/>
    <p:sldId id="297" r:id="rId22"/>
    <p:sldId id="298" r:id="rId23"/>
    <p:sldId id="300" r:id="rId24"/>
    <p:sldId id="306" r:id="rId25"/>
    <p:sldId id="301" r:id="rId26"/>
    <p:sldId id="303" r:id="rId27"/>
    <p:sldId id="302" r:id="rId28"/>
    <p:sldId id="259" r:id="rId29"/>
  </p:sldIdLst>
  <p:sldSz cx="12192000" cy="6858000"/>
  <p:notesSz cx="6858000" cy="9144000"/>
  <p:embeddedFontLst>
    <p:embeddedFont>
      <p:font typeface="Libre Baskerville" panose="02000000000000000000" pitchFamily="2" charset="0"/>
      <p:regular r:id="rId31"/>
      <p:bold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srcRect/>
          <a:stretch>
            <a:fillRect/>
          </a:stretch>
        </p:blipFill>
        <p:spPr>
          <a:xfrm>
            <a:off x="592" y="0"/>
            <a:ext cx="12190815" cy="6819202"/>
          </a:xfrm>
          <a:prstGeom prst="rect">
            <a:avLst/>
          </a:prstGeom>
          <a:noFill/>
          <a:ln>
            <a:noFill/>
          </a:ln>
        </p:spPr>
      </p:pic>
      <p:sp>
        <p:nvSpPr>
          <p:cNvPr id="99" name="Google Shape;99;p1"/>
          <p:cNvSpPr txBox="1"/>
          <p:nvPr/>
        </p:nvSpPr>
        <p:spPr>
          <a:xfrm>
            <a:off x="3047826" y="3621262"/>
            <a:ext cx="7209904" cy="1231066"/>
          </a:xfrm>
          <a:prstGeom prst="rect">
            <a:avLst/>
          </a:prstGeom>
          <a:noFill/>
          <a:ln>
            <a:noFill/>
          </a:ln>
        </p:spPr>
        <p:txBody>
          <a:bodyPr spcFirstLastPara="1" wrap="square" lIns="91425" tIns="45700" rIns="91425" bIns="45700" anchor="t" anchorCtr="0">
            <a:spAutoFit/>
          </a:bodyPr>
          <a:lstStyle/>
          <a:p>
            <a:pPr algn="just"/>
            <a:r>
              <a:rPr lang="en-US" sz="3400" b="1" u="sng" dirty="0">
                <a:ln/>
                <a:solidFill>
                  <a:schemeClr val="tx1"/>
                </a:solidFill>
                <a:effectLst>
                  <a:outerShdw blurRad="38100" dist="19050" dir="2700000" algn="tl" rotWithShape="0">
                    <a:srgbClr val="000000">
                      <a:alpha val="40000"/>
                    </a:srgbClr>
                  </a:outerShdw>
                </a:effectLst>
              </a:rPr>
              <a:t>Grocery Store Management</a:t>
            </a:r>
            <a:endParaRPr lang="en-US" dirty="0"/>
          </a:p>
          <a:p>
            <a:pPr algn="just"/>
            <a:r>
              <a:rPr lang="en-US" altLang="en-GB" sz="4000" b="1" dirty="0">
                <a:ln>
                  <a:solidFill>
                    <a:srgbClr val="FFFFFF"/>
                  </a:solidFill>
                </a:ln>
                <a:solidFill>
                  <a:schemeClr val="tx1"/>
                </a:solidFill>
                <a:latin typeface="Times New Roman" panose="02020603050405020304"/>
                <a:cs typeface="Times New Roman" panose="02020603050405020304"/>
              </a:rPr>
              <a:t>                                 </a:t>
            </a:r>
            <a:r>
              <a:rPr lang="en-US" altLang="en-GB" sz="4000" dirty="0">
                <a:ln>
                  <a:solidFill>
                    <a:srgbClr val="FFFFFF"/>
                  </a:solidFill>
                </a:ln>
                <a:solidFill>
                  <a:schemeClr val="tx1"/>
                </a:solidFill>
                <a:latin typeface="Times New Roman" panose="02020603050405020304"/>
                <a:cs typeface="Times New Roman" panose="02020603050405020304"/>
              </a:rPr>
              <a:t>  </a:t>
            </a:r>
            <a:endParaRPr lang="en-US" altLang="en-GB" sz="2000" b="1" dirty="0">
              <a:ln>
                <a:solidFill>
                  <a:srgbClr val="FFFFFF"/>
                </a:solidFill>
              </a:ln>
              <a:solidFill>
                <a:schemeClr val="tx1"/>
              </a:solidFill>
              <a:latin typeface="Times New Roman" panose="02020603050405020304"/>
              <a:cs typeface="Times New Roman" panose="02020603050405020304"/>
            </a:endParaRPr>
          </a:p>
        </p:txBody>
      </p:sp>
      <p:pic>
        <p:nvPicPr>
          <p:cNvPr id="3" name="Picture 2" descr="Top 10 Benefits of Grocery Software for Smooth Daily Store Operations">
            <a:extLst>
              <a:ext uri="{FF2B5EF4-FFF2-40B4-BE49-F238E27FC236}">
                <a16:creationId xmlns:a16="http://schemas.microsoft.com/office/drawing/2014/main" id="{8EB61EFB-B514-2F83-6EBC-F3098BFB09D3}"/>
              </a:ext>
            </a:extLst>
          </p:cNvPr>
          <p:cNvPicPr>
            <a:picLocks noChangeAspect="1"/>
          </p:cNvPicPr>
          <p:nvPr/>
        </p:nvPicPr>
        <p:blipFill>
          <a:blip r:embed="rId4"/>
          <a:stretch>
            <a:fillRect/>
          </a:stretch>
        </p:blipFill>
        <p:spPr>
          <a:xfrm>
            <a:off x="3809058" y="4236795"/>
            <a:ext cx="4573882" cy="2566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GB" b="1" dirty="0">
                <a:solidFill>
                  <a:srgbClr val="FF0000"/>
                </a:solidFill>
                <a:effectLst>
                  <a:outerShdw blurRad="38100" dist="38100" dir="2700000" algn="tl">
                    <a:srgbClr val="000000">
                      <a:alpha val="43137"/>
                    </a:srgbClr>
                  </a:outerShdw>
                </a:effectLst>
                <a:latin typeface="Times New Roman"/>
                <a:cs typeface="Times New Roman"/>
              </a:rPr>
              <a:t>About me :</a:t>
            </a:r>
            <a:br>
              <a:rPr lang="en-US" altLang="en-GB" dirty="0">
                <a:latin typeface="Times New Roman" panose="02020603050405020304" charset="0"/>
                <a:cs typeface="Times New Roman" panose="02020603050405020304" charset="0"/>
              </a:rPr>
            </a:br>
            <a:endParaRPr lang="en-IN" dirty="0"/>
          </a:p>
        </p:txBody>
      </p:sp>
      <p:sp>
        <p:nvSpPr>
          <p:cNvPr id="3" name="Text Placeholder 2"/>
          <p:cNvSpPr>
            <a:spLocks noGrp="1"/>
          </p:cNvSpPr>
          <p:nvPr>
            <p:ph type="body" idx="1"/>
          </p:nvPr>
        </p:nvSpPr>
        <p:spPr>
          <a:xfrm>
            <a:off x="838199" y="1252854"/>
            <a:ext cx="10613571" cy="4854031"/>
          </a:xfrm>
        </p:spPr>
        <p:txBody>
          <a:bodyPr>
            <a:normAutofit/>
          </a:bodyPr>
          <a:lstStyle/>
          <a:p>
            <a:pPr>
              <a:buNone/>
            </a:pPr>
            <a:r>
              <a:rPr lang="en-US" sz="2400" b="1" dirty="0">
                <a:solidFill>
                  <a:schemeClr val="tx1"/>
                </a:solidFill>
              </a:rPr>
              <a:t>👤 Name:</a:t>
            </a:r>
            <a:r>
              <a:rPr lang="en-US" sz="2400" dirty="0">
                <a:solidFill>
                  <a:schemeClr val="tx1"/>
                </a:solidFill>
              </a:rPr>
              <a:t> Manikanta Koushik</a:t>
            </a:r>
          </a:p>
          <a:p>
            <a:pPr>
              <a:buNone/>
            </a:pPr>
            <a:r>
              <a:rPr lang="en-US" sz="2400" b="1" dirty="0">
                <a:solidFill>
                  <a:schemeClr val="tx1"/>
                </a:solidFill>
              </a:rPr>
              <a:t>🎓 Educational Background:</a:t>
            </a:r>
          </a:p>
          <a:p>
            <a:pPr>
              <a:buNone/>
            </a:pPr>
            <a:r>
              <a:rPr lang="en-US" sz="2400" b="1" dirty="0">
                <a:solidFill>
                  <a:schemeClr val="tx1"/>
                </a:solidFill>
              </a:rPr>
              <a:t>     </a:t>
            </a:r>
            <a:r>
              <a:rPr lang="en-IN" sz="2400" dirty="0"/>
              <a:t>Bachelor of Technology (</a:t>
            </a:r>
            <a:r>
              <a:rPr lang="en-IN" sz="2400" dirty="0" err="1"/>
              <a:t>B.Tech</a:t>
            </a:r>
            <a:r>
              <a:rPr lang="en-IN" sz="2400" dirty="0"/>
              <a:t>) in Computer Science and Engineering (CSE) from Hyderabad Institute of Technology and Management (HITAM)</a:t>
            </a:r>
            <a:br>
              <a:rPr lang="en-IN" sz="2400" dirty="0"/>
            </a:br>
            <a:r>
              <a:rPr lang="en-IN" sz="2400" dirty="0"/>
              <a:t>Year of Graduation: 2026</a:t>
            </a:r>
          </a:p>
          <a:p>
            <a:pPr>
              <a:buNone/>
            </a:pPr>
            <a:r>
              <a:rPr lang="en-US" b="1" dirty="0">
                <a:solidFill>
                  <a:schemeClr val="tx1"/>
                </a:solidFill>
              </a:rPr>
              <a:t>📊 </a:t>
            </a:r>
            <a:r>
              <a:rPr lang="en-US" sz="2400" b="1" dirty="0">
                <a:solidFill>
                  <a:schemeClr val="tx1"/>
                </a:solidFill>
              </a:rPr>
              <a:t>Why I Want to Learn Data Analyst:</a:t>
            </a:r>
            <a:br>
              <a:rPr lang="en-US" b="1" dirty="0">
                <a:solidFill>
                  <a:schemeClr val="tx1"/>
                </a:solidFill>
              </a:rPr>
            </a:br>
            <a:r>
              <a:rPr lang="en-IN" sz="2400" dirty="0"/>
              <a:t>I am passionate about using data to solve business problems. My goal is to build expertise in SQL, Python, Power BI, and Data Analytics to turn data into valuable insights and grow as a Data Analyst.</a:t>
            </a:r>
          </a:p>
          <a:p>
            <a:pPr>
              <a:buNone/>
            </a:pPr>
            <a:r>
              <a:rPr lang="en-US" sz="2400" b="1" dirty="0">
                <a:solidFill>
                  <a:schemeClr val="tx1"/>
                </a:solidFill>
              </a:rPr>
              <a:t>🔗 LinkedIn: </a:t>
            </a:r>
            <a:r>
              <a:rPr lang="en-US" sz="2400" dirty="0">
                <a:solidFill>
                  <a:schemeClr val="tx1"/>
                </a:solidFill>
              </a:rPr>
              <a:t>https://www.linkedin.com/in/manikanta-koushik-61a935267/</a:t>
            </a:r>
          </a:p>
          <a:p>
            <a:pPr>
              <a:buNone/>
            </a:pPr>
            <a:r>
              <a:rPr lang="en-US" sz="2400" b="1" dirty="0">
                <a:solidFill>
                  <a:schemeClr val="tx1"/>
                </a:solidFill>
              </a:rPr>
              <a:t>💻 GitHub: </a:t>
            </a:r>
            <a:r>
              <a:rPr lang="en-US" sz="2400" dirty="0">
                <a:solidFill>
                  <a:schemeClr val="tx1"/>
                </a:solidFill>
              </a:rPr>
              <a:t>https://github.com/Koushik-Badineni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C2973-89F5-74CC-EC80-EDBD2D8D52EB}"/>
              </a:ext>
            </a:extLst>
          </p:cNvPr>
          <p:cNvSpPr>
            <a:spLocks noGrp="1"/>
          </p:cNvSpPr>
          <p:nvPr>
            <p:ph type="title"/>
          </p:nvPr>
        </p:nvSpPr>
        <p:spPr>
          <a:xfrm>
            <a:off x="544286" y="256268"/>
            <a:ext cx="10515600" cy="1325563"/>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Agenda</a:t>
            </a:r>
          </a:p>
        </p:txBody>
      </p:sp>
      <p:sp>
        <p:nvSpPr>
          <p:cNvPr id="3" name="Text Placeholder 2">
            <a:extLst>
              <a:ext uri="{FF2B5EF4-FFF2-40B4-BE49-F238E27FC236}">
                <a16:creationId xmlns:a16="http://schemas.microsoft.com/office/drawing/2014/main" id="{A2CD0BE8-AC34-AAA5-C606-57A38D714759}"/>
              </a:ext>
            </a:extLst>
          </p:cNvPr>
          <p:cNvSpPr>
            <a:spLocks noGrp="1"/>
          </p:cNvSpPr>
          <p:nvPr>
            <p:ph type="body" idx="1"/>
          </p:nvPr>
        </p:nvSpPr>
        <p:spPr>
          <a:xfrm>
            <a:off x="919843" y="1658031"/>
            <a:ext cx="10352314" cy="4663849"/>
          </a:xfrm>
        </p:spPr>
        <p:txBody>
          <a:bodyPr>
            <a:normAutofit fontScale="77500" lnSpcReduction="20000"/>
          </a:bodyPr>
          <a:lstStyle/>
          <a:p>
            <a:pPr marL="50800" indent="0">
              <a:buNone/>
            </a:pPr>
            <a:r>
              <a:rPr lang="en-IN" dirty="0"/>
              <a:t>• Project Overview </a:t>
            </a:r>
          </a:p>
          <a:p>
            <a:pPr marL="50800" indent="0">
              <a:buNone/>
            </a:pPr>
            <a:r>
              <a:rPr lang="en-IN" dirty="0"/>
              <a:t>• Project Objectives </a:t>
            </a:r>
          </a:p>
          <a:p>
            <a:pPr marL="50800" indent="0">
              <a:buNone/>
            </a:pPr>
            <a:r>
              <a:rPr lang="en-IN" dirty="0"/>
              <a:t>• Database Schema &amp; ER Diagram </a:t>
            </a:r>
          </a:p>
          <a:p>
            <a:pPr marL="50800" indent="0">
              <a:buNone/>
            </a:pPr>
            <a:r>
              <a:rPr lang="en-IN" dirty="0"/>
              <a:t>• Business Analysis</a:t>
            </a:r>
          </a:p>
          <a:p>
            <a:pPr marL="50800" indent="0">
              <a:buNone/>
            </a:pPr>
            <a:r>
              <a:rPr lang="en-IN" dirty="0"/>
              <a:t> • Customer Insights</a:t>
            </a:r>
          </a:p>
          <a:p>
            <a:pPr marL="50800" indent="0">
              <a:buNone/>
            </a:pPr>
            <a:r>
              <a:rPr lang="en-IN" dirty="0"/>
              <a:t> • Product Performance</a:t>
            </a:r>
          </a:p>
          <a:p>
            <a:pPr marL="50800" indent="0">
              <a:buNone/>
            </a:pPr>
            <a:r>
              <a:rPr lang="en-IN" dirty="0"/>
              <a:t> • Sales Trends</a:t>
            </a:r>
          </a:p>
          <a:p>
            <a:pPr marL="50800" indent="0">
              <a:buNone/>
            </a:pPr>
            <a:r>
              <a:rPr lang="en-IN" dirty="0"/>
              <a:t> • Supplier Contribution</a:t>
            </a:r>
          </a:p>
          <a:p>
            <a:pPr marL="50800" indent="0">
              <a:buNone/>
            </a:pPr>
            <a:r>
              <a:rPr lang="en-IN" dirty="0"/>
              <a:t> • Employee Performance </a:t>
            </a:r>
          </a:p>
          <a:p>
            <a:pPr marL="50800" indent="0">
              <a:buNone/>
            </a:pPr>
            <a:r>
              <a:rPr lang="en-IN" dirty="0"/>
              <a:t>• Key Findings </a:t>
            </a:r>
          </a:p>
          <a:p>
            <a:pPr marL="50800" indent="0">
              <a:buNone/>
            </a:pPr>
            <a:r>
              <a:rPr lang="en-IN" dirty="0"/>
              <a:t>• Experience &amp; Challenges </a:t>
            </a:r>
          </a:p>
          <a:p>
            <a:pPr marL="50800" indent="0">
              <a:buNone/>
            </a:pPr>
            <a:r>
              <a:rPr lang="en-IN" dirty="0"/>
              <a:t>• Conclusion • Q &amp; A</a:t>
            </a:r>
          </a:p>
        </p:txBody>
      </p:sp>
    </p:spTree>
    <p:extLst>
      <p:ext uri="{BB962C8B-B14F-4D97-AF65-F5344CB8AC3E}">
        <p14:creationId xmlns:p14="http://schemas.microsoft.com/office/powerpoint/2010/main" val="2599957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C28D7-EF4B-E7DC-6FEA-9ECA932CF9C2}"/>
              </a:ext>
            </a:extLst>
          </p:cNvPr>
          <p:cNvSpPr>
            <a:spLocks noGrp="1"/>
          </p:cNvSpPr>
          <p:nvPr>
            <p:ph type="title"/>
          </p:nvPr>
        </p:nvSpPr>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Project Overview</a:t>
            </a:r>
          </a:p>
        </p:txBody>
      </p:sp>
      <p:sp>
        <p:nvSpPr>
          <p:cNvPr id="3" name="Text Placeholder 2">
            <a:extLst>
              <a:ext uri="{FF2B5EF4-FFF2-40B4-BE49-F238E27FC236}">
                <a16:creationId xmlns:a16="http://schemas.microsoft.com/office/drawing/2014/main" id="{132B66F1-104F-2224-2612-50531D4C4524}"/>
              </a:ext>
            </a:extLst>
          </p:cNvPr>
          <p:cNvSpPr>
            <a:spLocks noGrp="1"/>
          </p:cNvSpPr>
          <p:nvPr>
            <p:ph type="body" idx="1"/>
          </p:nvPr>
        </p:nvSpPr>
        <p:spPr/>
        <p:txBody>
          <a:bodyPr/>
          <a:lstStyle/>
          <a:p>
            <a:pPr marL="50800" indent="0">
              <a:buNone/>
            </a:pPr>
            <a:r>
              <a:rPr lang="en-IN" b="1" dirty="0"/>
              <a:t>Grocery Store Management System</a:t>
            </a:r>
          </a:p>
          <a:p>
            <a:pPr marL="50800" indent="0">
              <a:buNone/>
            </a:pPr>
            <a:r>
              <a:rPr lang="en-IN" dirty="0"/>
              <a:t>The project focuses on </a:t>
            </a:r>
            <a:r>
              <a:rPr lang="en-IN" dirty="0" err="1"/>
              <a:t>analyzing</a:t>
            </a:r>
            <a:r>
              <a:rPr lang="en-IN" dirty="0"/>
              <a:t> grocery store transaction data using SQL. A relational database was designed to store customer, product, supplier, employee, and order information. Various SQL queries were written to extract business insights, identify sales trends, and support data-driven decision making.</a:t>
            </a:r>
          </a:p>
          <a:p>
            <a:endParaRPr lang="en-IN" dirty="0"/>
          </a:p>
        </p:txBody>
      </p:sp>
    </p:spTree>
    <p:extLst>
      <p:ext uri="{BB962C8B-B14F-4D97-AF65-F5344CB8AC3E}">
        <p14:creationId xmlns:p14="http://schemas.microsoft.com/office/powerpoint/2010/main" val="1748032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2CFB-31A0-B18D-3156-0E59254E4B72}"/>
              </a:ext>
            </a:extLst>
          </p:cNvPr>
          <p:cNvSpPr>
            <a:spLocks noGrp="1"/>
          </p:cNvSpPr>
          <p:nvPr>
            <p:ph type="title"/>
          </p:nvPr>
        </p:nvSpPr>
        <p:spPr/>
        <p:txBody>
          <a:bodyPr>
            <a:normAutofit/>
          </a:bodyPr>
          <a:lstStyle/>
          <a:p>
            <a:r>
              <a:rPr lang="en-US" b="1" dirty="0">
                <a:solidFill>
                  <a:srgbClr val="FF0000"/>
                </a:solidFill>
                <a:effectLst>
                  <a:outerShdw blurRad="38100" dist="38100" dir="2700000" algn="tl">
                    <a:srgbClr val="000000">
                      <a:alpha val="43137"/>
                    </a:srgbClr>
                  </a:outerShdw>
                </a:effectLst>
                <a:latin typeface="Times New Roman"/>
                <a:cs typeface="Times New Roman"/>
              </a:rPr>
              <a:t>Objective</a:t>
            </a:r>
            <a:r>
              <a:rPr lang="en-US" b="1" dirty="0">
                <a:solidFill>
                  <a:srgbClr val="C00000"/>
                </a:solidFill>
                <a:latin typeface="Times New Roman"/>
                <a:cs typeface="Times New Roman"/>
              </a:rPr>
              <a:t> </a:t>
            </a:r>
            <a:r>
              <a:rPr lang="en-US" b="1" dirty="0">
                <a:solidFill>
                  <a:srgbClr val="FF0000"/>
                </a:solidFill>
                <a:effectLst>
                  <a:outerShdw blurRad="38100" dist="38100" dir="2700000" algn="tl">
                    <a:srgbClr val="000000">
                      <a:alpha val="43137"/>
                    </a:srgbClr>
                  </a:outerShdw>
                </a:effectLst>
                <a:latin typeface="Times New Roman"/>
                <a:cs typeface="Times New Roman"/>
              </a:rPr>
              <a:t>of the Project</a:t>
            </a:r>
          </a:p>
        </p:txBody>
      </p:sp>
      <p:sp>
        <p:nvSpPr>
          <p:cNvPr id="3" name="Text Placeholder 2">
            <a:extLst>
              <a:ext uri="{FF2B5EF4-FFF2-40B4-BE49-F238E27FC236}">
                <a16:creationId xmlns:a16="http://schemas.microsoft.com/office/drawing/2014/main" id="{85D3D272-4FFA-CC83-91C2-19E2AD12C62C}"/>
              </a:ext>
            </a:extLst>
          </p:cNvPr>
          <p:cNvSpPr>
            <a:spLocks noGrp="1"/>
          </p:cNvSpPr>
          <p:nvPr>
            <p:ph type="body" idx="1"/>
          </p:nvPr>
        </p:nvSpPr>
        <p:spPr>
          <a:xfrm>
            <a:off x="838200" y="1491343"/>
            <a:ext cx="10515600" cy="4685620"/>
          </a:xfrm>
        </p:spPr>
        <p:txBody>
          <a:bodyPr>
            <a:normAutofit/>
          </a:bodyPr>
          <a:lstStyle/>
          <a:p>
            <a:r>
              <a:rPr lang="en-IN" dirty="0"/>
              <a:t>Design and </a:t>
            </a:r>
            <a:r>
              <a:rPr lang="en-IN" dirty="0" err="1"/>
              <a:t>analyze</a:t>
            </a:r>
            <a:r>
              <a:rPr lang="en-IN" dirty="0"/>
              <a:t> a relational database for a grocery store using SQL. </a:t>
            </a:r>
          </a:p>
          <a:p>
            <a:r>
              <a:rPr lang="en-IN" dirty="0"/>
              <a:t>Perform data analysis to understand customer purchasing </a:t>
            </a:r>
            <a:r>
              <a:rPr lang="en-IN" dirty="0" err="1"/>
              <a:t>behavior</a:t>
            </a:r>
            <a:r>
              <a:rPr lang="en-IN" dirty="0"/>
              <a:t> and sales performance. </a:t>
            </a:r>
          </a:p>
          <a:p>
            <a:r>
              <a:rPr lang="en-IN" dirty="0"/>
              <a:t>Evaluate product, supplier, and employee contributions through SQL queries.</a:t>
            </a:r>
          </a:p>
          <a:p>
            <a:r>
              <a:rPr lang="en-IN" dirty="0"/>
              <a:t> Generate business reports to uncover trends and support informed decision-making.</a:t>
            </a:r>
          </a:p>
          <a:p>
            <a:r>
              <a:rPr lang="en-IN" dirty="0"/>
              <a:t> Apply SQL concepts such as joins, aggregate functions, subqueries, and window functions to solve real-world business problems.</a:t>
            </a:r>
            <a:endParaRPr lang="en-US" dirty="0"/>
          </a:p>
        </p:txBody>
      </p:sp>
    </p:spTree>
    <p:extLst>
      <p:ext uri="{BB962C8B-B14F-4D97-AF65-F5344CB8AC3E}">
        <p14:creationId xmlns:p14="http://schemas.microsoft.com/office/powerpoint/2010/main" val="1783004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8586-80CB-D3FC-7E09-BA7C2608072C}"/>
              </a:ext>
            </a:extLst>
          </p:cNvPr>
          <p:cNvSpPr>
            <a:spLocks noGrp="1"/>
          </p:cNvSpPr>
          <p:nvPr>
            <p:ph type="title"/>
          </p:nvPr>
        </p:nvSpPr>
        <p:spPr>
          <a:xfrm>
            <a:off x="410029" y="2268"/>
            <a:ext cx="10515600" cy="1325563"/>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Database Schema</a:t>
            </a:r>
            <a:endParaRPr lang="en-US" sz="4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7178B6F-9C80-F56F-F009-55E630BC4339}"/>
              </a:ext>
            </a:extLst>
          </p:cNvPr>
          <p:cNvSpPr txBox="1"/>
          <p:nvPr/>
        </p:nvSpPr>
        <p:spPr>
          <a:xfrm>
            <a:off x="409815" y="114428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1"/>
              <a:t>Supplier</a:t>
            </a:r>
            <a:endParaRPr lang="en-US" sz="1800" b="1" dirty="0"/>
          </a:p>
        </p:txBody>
      </p:sp>
      <p:pic>
        <p:nvPicPr>
          <p:cNvPr id="4" name="Picture 3" descr="A screenshot of a computer&#10;&#10;AI-generated content may be incorrect.">
            <a:extLst>
              <a:ext uri="{FF2B5EF4-FFF2-40B4-BE49-F238E27FC236}">
                <a16:creationId xmlns:a16="http://schemas.microsoft.com/office/drawing/2014/main" id="{C57A0667-7106-0EA8-E2FC-D3041AE51265}"/>
              </a:ext>
            </a:extLst>
          </p:cNvPr>
          <p:cNvPicPr>
            <a:picLocks noChangeAspect="1"/>
          </p:cNvPicPr>
          <p:nvPr/>
        </p:nvPicPr>
        <p:blipFill>
          <a:blip r:embed="rId2"/>
          <a:stretch>
            <a:fillRect/>
          </a:stretch>
        </p:blipFill>
        <p:spPr>
          <a:xfrm>
            <a:off x="408668" y="1550987"/>
            <a:ext cx="4988379" cy="1890939"/>
          </a:xfrm>
          <a:prstGeom prst="rect">
            <a:avLst/>
          </a:prstGeom>
        </p:spPr>
      </p:pic>
      <p:sp>
        <p:nvSpPr>
          <p:cNvPr id="5" name="TextBox 4">
            <a:extLst>
              <a:ext uri="{FF2B5EF4-FFF2-40B4-BE49-F238E27FC236}">
                <a16:creationId xmlns:a16="http://schemas.microsoft.com/office/drawing/2014/main" id="{F0A0A8E7-371E-F3DF-C4A8-39A596FB5645}"/>
              </a:ext>
            </a:extLst>
          </p:cNvPr>
          <p:cNvSpPr txBox="1"/>
          <p:nvPr/>
        </p:nvSpPr>
        <p:spPr>
          <a:xfrm>
            <a:off x="6095786" y="113552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1" dirty="0"/>
              <a:t>categ</a:t>
            </a:r>
            <a:r>
              <a:rPr lang="en-US" sz="1800" b="1"/>
              <a:t>ory</a:t>
            </a:r>
          </a:p>
        </p:txBody>
      </p:sp>
      <p:pic>
        <p:nvPicPr>
          <p:cNvPr id="6" name="Picture 5" descr="A screenshot of a computer&#10;&#10;AI-generated content may be incorrect.">
            <a:extLst>
              <a:ext uri="{FF2B5EF4-FFF2-40B4-BE49-F238E27FC236}">
                <a16:creationId xmlns:a16="http://schemas.microsoft.com/office/drawing/2014/main" id="{1114D136-7903-0289-3D37-D13B7CB36A81}"/>
              </a:ext>
            </a:extLst>
          </p:cNvPr>
          <p:cNvPicPr>
            <a:picLocks noChangeAspect="1"/>
          </p:cNvPicPr>
          <p:nvPr/>
        </p:nvPicPr>
        <p:blipFill>
          <a:blip r:embed="rId3"/>
          <a:stretch>
            <a:fillRect/>
          </a:stretch>
        </p:blipFill>
        <p:spPr>
          <a:xfrm>
            <a:off x="6012543" y="1507898"/>
            <a:ext cx="4927599" cy="1940833"/>
          </a:xfrm>
          <a:prstGeom prst="rect">
            <a:avLst/>
          </a:prstGeom>
        </p:spPr>
      </p:pic>
      <p:sp>
        <p:nvSpPr>
          <p:cNvPr id="7" name="TextBox 6">
            <a:extLst>
              <a:ext uri="{FF2B5EF4-FFF2-40B4-BE49-F238E27FC236}">
                <a16:creationId xmlns:a16="http://schemas.microsoft.com/office/drawing/2014/main" id="{C0230C73-B5BD-05CE-25A0-7EC2580EBE70}"/>
              </a:ext>
            </a:extLst>
          </p:cNvPr>
          <p:cNvSpPr txBox="1"/>
          <p:nvPr/>
        </p:nvSpPr>
        <p:spPr>
          <a:xfrm>
            <a:off x="412376" y="366677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1"/>
              <a:t>employees</a:t>
            </a:r>
          </a:p>
        </p:txBody>
      </p:sp>
      <p:pic>
        <p:nvPicPr>
          <p:cNvPr id="8" name="Picture 7" descr="A screenshot of a computer&#10;&#10;AI-generated content may be incorrect.">
            <a:extLst>
              <a:ext uri="{FF2B5EF4-FFF2-40B4-BE49-F238E27FC236}">
                <a16:creationId xmlns:a16="http://schemas.microsoft.com/office/drawing/2014/main" id="{98F9BD8C-0357-A741-2963-C8BB98E575E7}"/>
              </a:ext>
            </a:extLst>
          </p:cNvPr>
          <p:cNvPicPr>
            <a:picLocks noChangeAspect="1"/>
          </p:cNvPicPr>
          <p:nvPr/>
        </p:nvPicPr>
        <p:blipFill>
          <a:blip r:embed="rId4"/>
          <a:stretch>
            <a:fillRect/>
          </a:stretch>
        </p:blipFill>
        <p:spPr>
          <a:xfrm>
            <a:off x="405719" y="4034064"/>
            <a:ext cx="3267075" cy="2440214"/>
          </a:xfrm>
          <a:prstGeom prst="rect">
            <a:avLst/>
          </a:prstGeom>
        </p:spPr>
      </p:pic>
      <p:sp>
        <p:nvSpPr>
          <p:cNvPr id="9" name="TextBox 8">
            <a:extLst>
              <a:ext uri="{FF2B5EF4-FFF2-40B4-BE49-F238E27FC236}">
                <a16:creationId xmlns:a16="http://schemas.microsoft.com/office/drawing/2014/main" id="{70B3A7B9-B4B1-FF74-6768-AFD2BDC7BCAB}"/>
              </a:ext>
            </a:extLst>
          </p:cNvPr>
          <p:cNvSpPr txBox="1"/>
          <p:nvPr/>
        </p:nvSpPr>
        <p:spPr>
          <a:xfrm>
            <a:off x="6095786" y="366464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1"/>
              <a:t>customers</a:t>
            </a:r>
          </a:p>
        </p:txBody>
      </p:sp>
      <p:pic>
        <p:nvPicPr>
          <p:cNvPr id="10" name="Picture 9" descr="A screenshot of a computer&#10;&#10;AI-generated content may be incorrect.">
            <a:extLst>
              <a:ext uri="{FF2B5EF4-FFF2-40B4-BE49-F238E27FC236}">
                <a16:creationId xmlns:a16="http://schemas.microsoft.com/office/drawing/2014/main" id="{669B0BC8-5DB9-D9E1-CB1A-EBFCCBD17E2A}"/>
              </a:ext>
            </a:extLst>
          </p:cNvPr>
          <p:cNvPicPr>
            <a:picLocks noChangeAspect="1"/>
          </p:cNvPicPr>
          <p:nvPr/>
        </p:nvPicPr>
        <p:blipFill>
          <a:blip r:embed="rId5"/>
          <a:stretch>
            <a:fillRect/>
          </a:stretch>
        </p:blipFill>
        <p:spPr>
          <a:xfrm>
            <a:off x="6013222" y="4035879"/>
            <a:ext cx="4810125" cy="2022929"/>
          </a:xfrm>
          <a:prstGeom prst="rect">
            <a:avLst/>
          </a:prstGeom>
        </p:spPr>
      </p:pic>
    </p:spTree>
    <p:extLst>
      <p:ext uri="{BB962C8B-B14F-4D97-AF65-F5344CB8AC3E}">
        <p14:creationId xmlns:p14="http://schemas.microsoft.com/office/powerpoint/2010/main" val="1075377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A8E442-9B6F-05AA-0CEA-CADF47AEF11E}"/>
              </a:ext>
            </a:extLst>
          </p:cNvPr>
          <p:cNvSpPr txBox="1"/>
          <p:nvPr/>
        </p:nvSpPr>
        <p:spPr>
          <a:xfrm>
            <a:off x="467872" y="38206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1"/>
              <a:t>products</a:t>
            </a:r>
          </a:p>
        </p:txBody>
      </p:sp>
      <p:pic>
        <p:nvPicPr>
          <p:cNvPr id="3" name="Picture 2" descr="A screenshot of a table&#10;&#10;AI-generated content may be incorrect.">
            <a:extLst>
              <a:ext uri="{FF2B5EF4-FFF2-40B4-BE49-F238E27FC236}">
                <a16:creationId xmlns:a16="http://schemas.microsoft.com/office/drawing/2014/main" id="{1ED7E4C1-B015-F974-57D2-84D326976C09}"/>
              </a:ext>
            </a:extLst>
          </p:cNvPr>
          <p:cNvPicPr>
            <a:picLocks noChangeAspect="1"/>
          </p:cNvPicPr>
          <p:nvPr/>
        </p:nvPicPr>
        <p:blipFill>
          <a:blip r:embed="rId2"/>
          <a:stretch>
            <a:fillRect/>
          </a:stretch>
        </p:blipFill>
        <p:spPr>
          <a:xfrm>
            <a:off x="467179" y="755197"/>
            <a:ext cx="5270500" cy="2676979"/>
          </a:xfrm>
          <a:prstGeom prst="rect">
            <a:avLst/>
          </a:prstGeom>
        </p:spPr>
      </p:pic>
      <p:sp>
        <p:nvSpPr>
          <p:cNvPr id="4" name="TextBox 3">
            <a:extLst>
              <a:ext uri="{FF2B5EF4-FFF2-40B4-BE49-F238E27FC236}">
                <a16:creationId xmlns:a16="http://schemas.microsoft.com/office/drawing/2014/main" id="{97FA55BB-62F1-1956-0750-EAC27CB42359}"/>
              </a:ext>
            </a:extLst>
          </p:cNvPr>
          <p:cNvSpPr txBox="1"/>
          <p:nvPr/>
        </p:nvSpPr>
        <p:spPr>
          <a:xfrm>
            <a:off x="6886174" y="38142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800" b="1"/>
              <a:t>orders</a:t>
            </a:r>
          </a:p>
        </p:txBody>
      </p:sp>
      <p:pic>
        <p:nvPicPr>
          <p:cNvPr id="5" name="Picture 4" descr="A screenshot of a data&#10;&#10;AI-generated content may be incorrect.">
            <a:extLst>
              <a:ext uri="{FF2B5EF4-FFF2-40B4-BE49-F238E27FC236}">
                <a16:creationId xmlns:a16="http://schemas.microsoft.com/office/drawing/2014/main" id="{7E326FDE-2F3A-E7B7-6382-8359733EFE48}"/>
              </a:ext>
            </a:extLst>
          </p:cNvPr>
          <p:cNvPicPr>
            <a:picLocks noChangeAspect="1"/>
          </p:cNvPicPr>
          <p:nvPr/>
        </p:nvPicPr>
        <p:blipFill>
          <a:blip r:embed="rId3"/>
          <a:stretch>
            <a:fillRect/>
          </a:stretch>
        </p:blipFill>
        <p:spPr>
          <a:xfrm>
            <a:off x="6888390" y="755423"/>
            <a:ext cx="4126592" cy="2981325"/>
          </a:xfrm>
          <a:prstGeom prst="rect">
            <a:avLst/>
          </a:prstGeom>
        </p:spPr>
      </p:pic>
      <p:sp>
        <p:nvSpPr>
          <p:cNvPr id="6" name="TextBox 5">
            <a:extLst>
              <a:ext uri="{FF2B5EF4-FFF2-40B4-BE49-F238E27FC236}">
                <a16:creationId xmlns:a16="http://schemas.microsoft.com/office/drawing/2014/main" id="{83F7971F-2DC9-E134-7DC7-CCB295B20731}"/>
              </a:ext>
            </a:extLst>
          </p:cNvPr>
          <p:cNvSpPr txBox="1"/>
          <p:nvPr/>
        </p:nvSpPr>
        <p:spPr>
          <a:xfrm>
            <a:off x="3209791" y="355535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t>Order</a:t>
            </a:r>
            <a:r>
              <a:rPr lang="en-US"/>
              <a:t> </a:t>
            </a:r>
            <a:r>
              <a:rPr lang="en-US" sz="1800" b="1"/>
              <a:t>details</a:t>
            </a:r>
          </a:p>
        </p:txBody>
      </p:sp>
      <p:pic>
        <p:nvPicPr>
          <p:cNvPr id="7" name="Picture 6" descr="A screenshot of a table&#10;&#10;AI-generated content may be incorrect.">
            <a:extLst>
              <a:ext uri="{FF2B5EF4-FFF2-40B4-BE49-F238E27FC236}">
                <a16:creationId xmlns:a16="http://schemas.microsoft.com/office/drawing/2014/main" id="{7FB4E97A-D054-2A3C-8E2D-9A288C279607}"/>
              </a:ext>
            </a:extLst>
          </p:cNvPr>
          <p:cNvPicPr>
            <a:picLocks noChangeAspect="1"/>
          </p:cNvPicPr>
          <p:nvPr/>
        </p:nvPicPr>
        <p:blipFill>
          <a:blip r:embed="rId4"/>
          <a:stretch>
            <a:fillRect/>
          </a:stretch>
        </p:blipFill>
        <p:spPr>
          <a:xfrm>
            <a:off x="2641600" y="3926794"/>
            <a:ext cx="5486400" cy="2429783"/>
          </a:xfrm>
          <a:prstGeom prst="rect">
            <a:avLst/>
          </a:prstGeom>
        </p:spPr>
      </p:pic>
    </p:spTree>
    <p:extLst>
      <p:ext uri="{BB962C8B-B14F-4D97-AF65-F5344CB8AC3E}">
        <p14:creationId xmlns:p14="http://schemas.microsoft.com/office/powerpoint/2010/main" val="1047568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612D9-9511-A6CD-C998-433E3E9DE2C4}"/>
              </a:ext>
            </a:extLst>
          </p:cNvPr>
          <p:cNvSpPr txBox="1"/>
          <p:nvPr/>
        </p:nvSpPr>
        <p:spPr>
          <a:xfrm>
            <a:off x="338951" y="288364"/>
            <a:ext cx="402045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sym typeface="Calibri" panose="020F0502020204030204"/>
              </a:rPr>
              <a:t>ER Diagram</a:t>
            </a:r>
            <a:endParaRPr lang="en-US" sz="4400" b="1" dirty="0">
              <a:solidFill>
                <a:srgbClr val="FF0000"/>
              </a:solidFill>
              <a:effectLst>
                <a:outerShdw blurRad="38100" dist="38100" dir="2700000" algn="tl">
                  <a:srgbClr val="000000">
                    <a:alpha val="43137"/>
                  </a:srgbClr>
                </a:outerShdw>
              </a:effectLst>
              <a:latin typeface="Times New Roman"/>
              <a:ea typeface="Calibri" panose="020F0502020204030204"/>
              <a:cs typeface="Times New Roman"/>
              <a:sym typeface="Calibri" panose="020F0502020204030204"/>
            </a:endParaRPr>
          </a:p>
        </p:txBody>
      </p:sp>
      <p:pic>
        <p:nvPicPr>
          <p:cNvPr id="3" name="Picture 2" descr="A screenshot of a computer&#10;&#10;AI-generated content may be incorrect.">
            <a:extLst>
              <a:ext uri="{FF2B5EF4-FFF2-40B4-BE49-F238E27FC236}">
                <a16:creationId xmlns:a16="http://schemas.microsoft.com/office/drawing/2014/main" id="{79795A6A-49B2-3EAB-534C-68FAE86B78C3}"/>
              </a:ext>
            </a:extLst>
          </p:cNvPr>
          <p:cNvPicPr>
            <a:picLocks noChangeAspect="1"/>
          </p:cNvPicPr>
          <p:nvPr/>
        </p:nvPicPr>
        <p:blipFill>
          <a:blip r:embed="rId2"/>
          <a:stretch>
            <a:fillRect/>
          </a:stretch>
        </p:blipFill>
        <p:spPr>
          <a:xfrm>
            <a:off x="983343" y="1057729"/>
            <a:ext cx="10210800" cy="5040085"/>
          </a:xfrm>
          <a:prstGeom prst="rect">
            <a:avLst/>
          </a:prstGeom>
        </p:spPr>
      </p:pic>
    </p:spTree>
    <p:extLst>
      <p:ext uri="{BB962C8B-B14F-4D97-AF65-F5344CB8AC3E}">
        <p14:creationId xmlns:p14="http://schemas.microsoft.com/office/powerpoint/2010/main" val="302954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2BFEED-1A0F-C6CF-960F-833185BB598A}"/>
              </a:ext>
            </a:extLst>
          </p:cNvPr>
          <p:cNvSpPr txBox="1"/>
          <p:nvPr/>
        </p:nvSpPr>
        <p:spPr>
          <a:xfrm>
            <a:off x="376465" y="329293"/>
            <a:ext cx="8367483"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1️. Customer Insights</a:t>
            </a:r>
          </a:p>
          <a:p>
            <a:endParaRPr lang="en-US" sz="2400" b="1" dirty="0"/>
          </a:p>
          <a:p>
            <a:br>
              <a:rPr lang="en-US" dirty="0"/>
            </a:br>
            <a:endParaRPr lang="en-US" dirty="0"/>
          </a:p>
        </p:txBody>
      </p:sp>
      <p:sp>
        <p:nvSpPr>
          <p:cNvPr id="4" name="TextBox 3">
            <a:extLst>
              <a:ext uri="{FF2B5EF4-FFF2-40B4-BE49-F238E27FC236}">
                <a16:creationId xmlns:a16="http://schemas.microsoft.com/office/drawing/2014/main" id="{51A5E81E-D0F9-EA8C-B5E1-6520869504C6}"/>
              </a:ext>
            </a:extLst>
          </p:cNvPr>
          <p:cNvSpPr txBox="1"/>
          <p:nvPr/>
        </p:nvSpPr>
        <p:spPr>
          <a:xfrm>
            <a:off x="673099" y="1084943"/>
            <a:ext cx="844731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1A. How many unique customers have placed orders?</a:t>
            </a:r>
            <a:endParaRPr lang="en-US"/>
          </a:p>
        </p:txBody>
      </p:sp>
      <p:pic>
        <p:nvPicPr>
          <p:cNvPr id="5" name="Picture 4" descr="A black and white text&#10;&#10;AI-generated content may be incorrect.">
            <a:extLst>
              <a:ext uri="{FF2B5EF4-FFF2-40B4-BE49-F238E27FC236}">
                <a16:creationId xmlns:a16="http://schemas.microsoft.com/office/drawing/2014/main" id="{055C100A-A9BE-1EEA-6C19-A068E848DBBD}"/>
              </a:ext>
            </a:extLst>
          </p:cNvPr>
          <p:cNvPicPr>
            <a:picLocks noChangeAspect="1"/>
          </p:cNvPicPr>
          <p:nvPr/>
        </p:nvPicPr>
        <p:blipFill>
          <a:blip r:embed="rId2"/>
          <a:stretch>
            <a:fillRect/>
          </a:stretch>
        </p:blipFill>
        <p:spPr>
          <a:xfrm>
            <a:off x="1300162" y="1637471"/>
            <a:ext cx="5324475" cy="1008742"/>
          </a:xfrm>
          <a:prstGeom prst="rect">
            <a:avLst/>
          </a:prstGeom>
        </p:spPr>
      </p:pic>
      <p:pic>
        <p:nvPicPr>
          <p:cNvPr id="6" name="Picture 5" descr="A close-up of a computer screen&#10;&#10;AI-generated content may be incorrect.">
            <a:extLst>
              <a:ext uri="{FF2B5EF4-FFF2-40B4-BE49-F238E27FC236}">
                <a16:creationId xmlns:a16="http://schemas.microsoft.com/office/drawing/2014/main" id="{86168DAA-F56A-E80E-9332-5644FAF509BD}"/>
              </a:ext>
            </a:extLst>
          </p:cNvPr>
          <p:cNvPicPr>
            <a:picLocks noChangeAspect="1"/>
          </p:cNvPicPr>
          <p:nvPr/>
        </p:nvPicPr>
        <p:blipFill>
          <a:blip r:embed="rId3"/>
          <a:stretch>
            <a:fillRect/>
          </a:stretch>
        </p:blipFill>
        <p:spPr>
          <a:xfrm>
            <a:off x="2261281" y="2679927"/>
            <a:ext cx="2066925" cy="1033688"/>
          </a:xfrm>
          <a:prstGeom prst="rect">
            <a:avLst/>
          </a:prstGeom>
        </p:spPr>
      </p:pic>
      <p:sp>
        <p:nvSpPr>
          <p:cNvPr id="7" name="TextBox 6">
            <a:extLst>
              <a:ext uri="{FF2B5EF4-FFF2-40B4-BE49-F238E27FC236}">
                <a16:creationId xmlns:a16="http://schemas.microsoft.com/office/drawing/2014/main" id="{80938D4C-9967-3156-9ECC-A6AFA78A6B98}"/>
              </a:ext>
            </a:extLst>
          </p:cNvPr>
          <p:cNvSpPr txBox="1"/>
          <p:nvPr/>
        </p:nvSpPr>
        <p:spPr>
          <a:xfrm>
            <a:off x="647700" y="3721099"/>
            <a:ext cx="1135742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1B. Which customers have placed the highest number of orders?</a:t>
            </a:r>
          </a:p>
        </p:txBody>
      </p:sp>
      <p:pic>
        <p:nvPicPr>
          <p:cNvPr id="8" name="Picture 7" descr="A white background with black text&#10;&#10;AI-generated content may be incorrect.">
            <a:extLst>
              <a:ext uri="{FF2B5EF4-FFF2-40B4-BE49-F238E27FC236}">
                <a16:creationId xmlns:a16="http://schemas.microsoft.com/office/drawing/2014/main" id="{3554606C-AE40-1465-465E-538B144B33E3}"/>
              </a:ext>
            </a:extLst>
          </p:cNvPr>
          <p:cNvPicPr>
            <a:picLocks noChangeAspect="1"/>
          </p:cNvPicPr>
          <p:nvPr/>
        </p:nvPicPr>
        <p:blipFill>
          <a:blip r:embed="rId4"/>
          <a:stretch>
            <a:fillRect/>
          </a:stretch>
        </p:blipFill>
        <p:spPr>
          <a:xfrm>
            <a:off x="1019175" y="4177846"/>
            <a:ext cx="5886450" cy="1085850"/>
          </a:xfrm>
          <a:prstGeom prst="rect">
            <a:avLst/>
          </a:prstGeom>
        </p:spPr>
      </p:pic>
      <p:pic>
        <p:nvPicPr>
          <p:cNvPr id="9" name="Picture 8" descr="A screenshot of a number&#10;&#10;AI-generated content may be incorrect.">
            <a:extLst>
              <a:ext uri="{FF2B5EF4-FFF2-40B4-BE49-F238E27FC236}">
                <a16:creationId xmlns:a16="http://schemas.microsoft.com/office/drawing/2014/main" id="{ED44E8EC-83CB-5A29-EFF4-72EE39FF26A8}"/>
              </a:ext>
            </a:extLst>
          </p:cNvPr>
          <p:cNvPicPr>
            <a:picLocks noChangeAspect="1"/>
          </p:cNvPicPr>
          <p:nvPr/>
        </p:nvPicPr>
        <p:blipFill>
          <a:blip r:embed="rId5"/>
          <a:stretch>
            <a:fillRect/>
          </a:stretch>
        </p:blipFill>
        <p:spPr>
          <a:xfrm>
            <a:off x="2263548" y="5258934"/>
            <a:ext cx="2127704" cy="1434647"/>
          </a:xfrm>
          <a:prstGeom prst="rect">
            <a:avLst/>
          </a:prstGeom>
        </p:spPr>
      </p:pic>
    </p:spTree>
    <p:extLst>
      <p:ext uri="{BB962C8B-B14F-4D97-AF65-F5344CB8AC3E}">
        <p14:creationId xmlns:p14="http://schemas.microsoft.com/office/powerpoint/2010/main" val="190089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FD0D7C-7809-A5EB-DB9F-E36077F0C45D}"/>
              </a:ext>
            </a:extLst>
          </p:cNvPr>
          <p:cNvSpPr txBox="1"/>
          <p:nvPr/>
        </p:nvSpPr>
        <p:spPr>
          <a:xfrm>
            <a:off x="248557" y="263978"/>
            <a:ext cx="1025434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  1C. What is the total and average purchase value per customer?</a:t>
            </a:r>
            <a:br>
              <a:rPr lang="en-US" sz="1200" dirty="0"/>
            </a:br>
            <a:endParaRPr lang="en-US" sz="1200" dirty="0"/>
          </a:p>
        </p:txBody>
      </p:sp>
      <p:pic>
        <p:nvPicPr>
          <p:cNvPr id="3" name="Picture 2" descr="A screen shot of a computer code&#10;&#10;AI-generated content may be incorrect.">
            <a:extLst>
              <a:ext uri="{FF2B5EF4-FFF2-40B4-BE49-F238E27FC236}">
                <a16:creationId xmlns:a16="http://schemas.microsoft.com/office/drawing/2014/main" id="{F97726EE-EBB6-76C4-8730-8B3C7A2DA4F1}"/>
              </a:ext>
            </a:extLst>
          </p:cNvPr>
          <p:cNvPicPr>
            <a:picLocks noChangeAspect="1"/>
          </p:cNvPicPr>
          <p:nvPr/>
        </p:nvPicPr>
        <p:blipFill>
          <a:blip r:embed="rId2"/>
          <a:stretch>
            <a:fillRect/>
          </a:stretch>
        </p:blipFill>
        <p:spPr>
          <a:xfrm>
            <a:off x="1103086" y="907823"/>
            <a:ext cx="4572000" cy="298132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5D46E7C6-EE27-D469-1165-FABAFEBB7120}"/>
              </a:ext>
            </a:extLst>
          </p:cNvPr>
          <p:cNvPicPr>
            <a:picLocks noChangeAspect="1"/>
          </p:cNvPicPr>
          <p:nvPr/>
        </p:nvPicPr>
        <p:blipFill>
          <a:blip r:embed="rId3"/>
          <a:stretch>
            <a:fillRect/>
          </a:stretch>
        </p:blipFill>
        <p:spPr>
          <a:xfrm>
            <a:off x="1691141" y="4155848"/>
            <a:ext cx="3686175" cy="1666875"/>
          </a:xfrm>
          <a:prstGeom prst="rect">
            <a:avLst/>
          </a:prstGeom>
        </p:spPr>
      </p:pic>
    </p:spTree>
    <p:extLst>
      <p:ext uri="{BB962C8B-B14F-4D97-AF65-F5344CB8AC3E}">
        <p14:creationId xmlns:p14="http://schemas.microsoft.com/office/powerpoint/2010/main" val="1344606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4C4B49-A3C6-200B-21FA-9A42B86DAC5E}"/>
              </a:ext>
            </a:extLst>
          </p:cNvPr>
          <p:cNvSpPr txBox="1"/>
          <p:nvPr/>
        </p:nvSpPr>
        <p:spPr>
          <a:xfrm>
            <a:off x="440871" y="210457"/>
            <a:ext cx="7620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2. Product Performance</a:t>
            </a:r>
          </a:p>
        </p:txBody>
      </p:sp>
      <p:sp>
        <p:nvSpPr>
          <p:cNvPr id="3" name="TextBox 2">
            <a:extLst>
              <a:ext uri="{FF2B5EF4-FFF2-40B4-BE49-F238E27FC236}">
                <a16:creationId xmlns:a16="http://schemas.microsoft.com/office/drawing/2014/main" id="{7C9ABE37-2CEC-8D58-916A-50D84CF312AB}"/>
              </a:ext>
            </a:extLst>
          </p:cNvPr>
          <p:cNvSpPr txBox="1"/>
          <p:nvPr/>
        </p:nvSpPr>
        <p:spPr>
          <a:xfrm>
            <a:off x="722086" y="921656"/>
            <a:ext cx="80191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2A. How many products exist in each category?</a:t>
            </a:r>
          </a:p>
        </p:txBody>
      </p:sp>
      <p:pic>
        <p:nvPicPr>
          <p:cNvPr id="4" name="Picture 3" descr="A white background with black text&#10;&#10;AI-generated content may be incorrect.">
            <a:extLst>
              <a:ext uri="{FF2B5EF4-FFF2-40B4-BE49-F238E27FC236}">
                <a16:creationId xmlns:a16="http://schemas.microsoft.com/office/drawing/2014/main" id="{3114A5AC-4C4A-A681-6A48-49B6A6C0F936}"/>
              </a:ext>
            </a:extLst>
          </p:cNvPr>
          <p:cNvPicPr>
            <a:picLocks noChangeAspect="1"/>
          </p:cNvPicPr>
          <p:nvPr/>
        </p:nvPicPr>
        <p:blipFill>
          <a:blip r:embed="rId2"/>
          <a:stretch>
            <a:fillRect/>
          </a:stretch>
        </p:blipFill>
        <p:spPr>
          <a:xfrm>
            <a:off x="1444851" y="1554389"/>
            <a:ext cx="6181725" cy="178253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08B9FD43-9655-54D1-EA86-27843C2B9684}"/>
              </a:ext>
            </a:extLst>
          </p:cNvPr>
          <p:cNvPicPr>
            <a:picLocks noChangeAspect="1"/>
          </p:cNvPicPr>
          <p:nvPr/>
        </p:nvPicPr>
        <p:blipFill>
          <a:blip r:embed="rId3"/>
          <a:stretch>
            <a:fillRect/>
          </a:stretch>
        </p:blipFill>
        <p:spPr>
          <a:xfrm>
            <a:off x="2655207" y="3624035"/>
            <a:ext cx="4515757" cy="1881414"/>
          </a:xfrm>
          <a:prstGeom prst="rect">
            <a:avLst/>
          </a:prstGeom>
        </p:spPr>
      </p:pic>
    </p:spTree>
    <p:extLst>
      <p:ext uri="{BB962C8B-B14F-4D97-AF65-F5344CB8AC3E}">
        <p14:creationId xmlns:p14="http://schemas.microsoft.com/office/powerpoint/2010/main" val="2935389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64315A-3856-F2F4-6053-24739A04546E}"/>
              </a:ext>
            </a:extLst>
          </p:cNvPr>
          <p:cNvSpPr txBox="1"/>
          <p:nvPr/>
        </p:nvSpPr>
        <p:spPr>
          <a:xfrm>
            <a:off x="443593" y="345621"/>
            <a:ext cx="108566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2B. Which products have the highest total sales volume (by quantity)?</a:t>
            </a:r>
          </a:p>
        </p:txBody>
      </p:sp>
      <p:pic>
        <p:nvPicPr>
          <p:cNvPr id="3" name="Picture 2" descr="A screenshot of a computer code&#10;&#10;AI-generated content may be incorrect.">
            <a:extLst>
              <a:ext uri="{FF2B5EF4-FFF2-40B4-BE49-F238E27FC236}">
                <a16:creationId xmlns:a16="http://schemas.microsoft.com/office/drawing/2014/main" id="{71CFF6C0-FA73-F253-FD8F-CFE2692F1BFC}"/>
              </a:ext>
            </a:extLst>
          </p:cNvPr>
          <p:cNvPicPr>
            <a:picLocks noChangeAspect="1"/>
          </p:cNvPicPr>
          <p:nvPr/>
        </p:nvPicPr>
        <p:blipFill>
          <a:blip r:embed="rId2"/>
          <a:stretch>
            <a:fillRect/>
          </a:stretch>
        </p:blipFill>
        <p:spPr>
          <a:xfrm>
            <a:off x="1356405" y="1002846"/>
            <a:ext cx="5741760" cy="2573564"/>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065CE310-73F3-C5E7-42BF-946DEF8AD2DD}"/>
              </a:ext>
            </a:extLst>
          </p:cNvPr>
          <p:cNvPicPr>
            <a:picLocks noChangeAspect="1"/>
          </p:cNvPicPr>
          <p:nvPr/>
        </p:nvPicPr>
        <p:blipFill>
          <a:blip r:embed="rId3"/>
          <a:stretch>
            <a:fillRect/>
          </a:stretch>
        </p:blipFill>
        <p:spPr>
          <a:xfrm>
            <a:off x="2839357" y="3783693"/>
            <a:ext cx="3886200" cy="2324100"/>
          </a:xfrm>
          <a:prstGeom prst="rect">
            <a:avLst/>
          </a:prstGeom>
        </p:spPr>
      </p:pic>
    </p:spTree>
    <p:extLst>
      <p:ext uri="{BB962C8B-B14F-4D97-AF65-F5344CB8AC3E}">
        <p14:creationId xmlns:p14="http://schemas.microsoft.com/office/powerpoint/2010/main" val="446934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84291D-8A34-3F2C-80AE-5B3055487407}"/>
              </a:ext>
            </a:extLst>
          </p:cNvPr>
          <p:cNvSpPr txBox="1"/>
          <p:nvPr/>
        </p:nvSpPr>
        <p:spPr>
          <a:xfrm>
            <a:off x="478064" y="419100"/>
            <a:ext cx="1049382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2C. What is the total revenue generated by each product?</a:t>
            </a:r>
            <a:br>
              <a:rPr lang="en-US" sz="2400" b="1" dirty="0"/>
            </a:br>
            <a:endParaRPr lang="en-US" sz="2400" b="1" dirty="0"/>
          </a:p>
        </p:txBody>
      </p:sp>
      <p:pic>
        <p:nvPicPr>
          <p:cNvPr id="3" name="Picture 2" descr="A white background with black text&#10;&#10;AI-generated content may be incorrect.">
            <a:extLst>
              <a:ext uri="{FF2B5EF4-FFF2-40B4-BE49-F238E27FC236}">
                <a16:creationId xmlns:a16="http://schemas.microsoft.com/office/drawing/2014/main" id="{8524839D-88B2-4139-8923-1F4830235077}"/>
              </a:ext>
            </a:extLst>
          </p:cNvPr>
          <p:cNvPicPr>
            <a:picLocks noChangeAspect="1"/>
          </p:cNvPicPr>
          <p:nvPr/>
        </p:nvPicPr>
        <p:blipFill>
          <a:blip r:embed="rId2"/>
          <a:stretch>
            <a:fillRect/>
          </a:stretch>
        </p:blipFill>
        <p:spPr>
          <a:xfrm>
            <a:off x="1217840" y="1069975"/>
            <a:ext cx="7753350" cy="1902278"/>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A8557BDC-5F2F-563C-03CD-7A5DA918DE13}"/>
              </a:ext>
            </a:extLst>
          </p:cNvPr>
          <p:cNvPicPr>
            <a:picLocks noChangeAspect="1"/>
          </p:cNvPicPr>
          <p:nvPr/>
        </p:nvPicPr>
        <p:blipFill>
          <a:blip r:embed="rId3"/>
          <a:stretch>
            <a:fillRect/>
          </a:stretch>
        </p:blipFill>
        <p:spPr>
          <a:xfrm>
            <a:off x="1944007" y="3225119"/>
            <a:ext cx="4152900" cy="2352675"/>
          </a:xfrm>
          <a:prstGeom prst="rect">
            <a:avLst/>
          </a:prstGeom>
        </p:spPr>
      </p:pic>
    </p:spTree>
    <p:extLst>
      <p:ext uri="{BB962C8B-B14F-4D97-AF65-F5344CB8AC3E}">
        <p14:creationId xmlns:p14="http://schemas.microsoft.com/office/powerpoint/2010/main" val="2263151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630351-A8FB-B42D-DB10-824DF6B891C4}"/>
              </a:ext>
            </a:extLst>
          </p:cNvPr>
          <p:cNvSpPr txBox="1"/>
          <p:nvPr/>
        </p:nvSpPr>
        <p:spPr>
          <a:xfrm>
            <a:off x="362857" y="170543"/>
            <a:ext cx="60960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3. Sales and Order Trends</a:t>
            </a:r>
          </a:p>
          <a:p>
            <a:endParaRPr lang="en-US" sz="40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endParaRPr>
          </a:p>
        </p:txBody>
      </p:sp>
      <p:sp>
        <p:nvSpPr>
          <p:cNvPr id="3" name="TextBox 2">
            <a:extLst>
              <a:ext uri="{FF2B5EF4-FFF2-40B4-BE49-F238E27FC236}">
                <a16:creationId xmlns:a16="http://schemas.microsoft.com/office/drawing/2014/main" id="{8AD6BB3F-54C5-B6B0-BF0D-AD89055DAA9E}"/>
              </a:ext>
            </a:extLst>
          </p:cNvPr>
          <p:cNvSpPr txBox="1"/>
          <p:nvPr/>
        </p:nvSpPr>
        <p:spPr>
          <a:xfrm>
            <a:off x="682172" y="1034143"/>
            <a:ext cx="788851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3A. How many orders have been placed in total?</a:t>
            </a:r>
          </a:p>
          <a:p>
            <a:pPr algn="ctr"/>
            <a:endParaRPr lang="en-US"/>
          </a:p>
        </p:txBody>
      </p:sp>
      <p:pic>
        <p:nvPicPr>
          <p:cNvPr id="4" name="Picture 3" descr="A close up of a text&#10;&#10;AI-generated content may be incorrect.">
            <a:extLst>
              <a:ext uri="{FF2B5EF4-FFF2-40B4-BE49-F238E27FC236}">
                <a16:creationId xmlns:a16="http://schemas.microsoft.com/office/drawing/2014/main" id="{2F85D8CA-D945-94C4-9449-A6109788C6F3}"/>
              </a:ext>
            </a:extLst>
          </p:cNvPr>
          <p:cNvPicPr>
            <a:picLocks noChangeAspect="1"/>
          </p:cNvPicPr>
          <p:nvPr/>
        </p:nvPicPr>
        <p:blipFill>
          <a:blip r:embed="rId2"/>
          <a:stretch>
            <a:fillRect/>
          </a:stretch>
        </p:blipFill>
        <p:spPr>
          <a:xfrm>
            <a:off x="1409246" y="1491570"/>
            <a:ext cx="3829050" cy="718003"/>
          </a:xfrm>
          <a:prstGeom prst="rect">
            <a:avLst/>
          </a:prstGeom>
        </p:spPr>
      </p:pic>
      <p:pic>
        <p:nvPicPr>
          <p:cNvPr id="5" name="Picture 4" descr="A close up of a number&#10;&#10;AI-generated content may be incorrect.">
            <a:extLst>
              <a:ext uri="{FF2B5EF4-FFF2-40B4-BE49-F238E27FC236}">
                <a16:creationId xmlns:a16="http://schemas.microsoft.com/office/drawing/2014/main" id="{671A3B47-D355-5427-6AB1-0F80206B2EDA}"/>
              </a:ext>
            </a:extLst>
          </p:cNvPr>
          <p:cNvPicPr>
            <a:picLocks noChangeAspect="1"/>
          </p:cNvPicPr>
          <p:nvPr/>
        </p:nvPicPr>
        <p:blipFill>
          <a:blip r:embed="rId3"/>
          <a:stretch>
            <a:fillRect/>
          </a:stretch>
        </p:blipFill>
        <p:spPr>
          <a:xfrm>
            <a:off x="2062162" y="2418443"/>
            <a:ext cx="1666875" cy="685800"/>
          </a:xfrm>
          <a:prstGeom prst="rect">
            <a:avLst/>
          </a:prstGeom>
        </p:spPr>
      </p:pic>
      <p:sp>
        <p:nvSpPr>
          <p:cNvPr id="6" name="TextBox 5">
            <a:extLst>
              <a:ext uri="{FF2B5EF4-FFF2-40B4-BE49-F238E27FC236}">
                <a16:creationId xmlns:a16="http://schemas.microsoft.com/office/drawing/2014/main" id="{057AFF91-EEA1-F299-025C-27721321859B}"/>
              </a:ext>
            </a:extLst>
          </p:cNvPr>
          <p:cNvSpPr txBox="1"/>
          <p:nvPr/>
        </p:nvSpPr>
        <p:spPr>
          <a:xfrm>
            <a:off x="682171" y="3102429"/>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3B. What is the average value per order?</a:t>
            </a:r>
          </a:p>
          <a:p>
            <a:pPr algn="ctr"/>
            <a:endParaRPr lang="en-US"/>
          </a:p>
        </p:txBody>
      </p:sp>
      <p:pic>
        <p:nvPicPr>
          <p:cNvPr id="7" name="Picture 6" descr="A white background with black text&#10;&#10;AI-generated content may be incorrect.">
            <a:extLst>
              <a:ext uri="{FF2B5EF4-FFF2-40B4-BE49-F238E27FC236}">
                <a16:creationId xmlns:a16="http://schemas.microsoft.com/office/drawing/2014/main" id="{9FEE9DC0-C458-A95A-D4AC-214C16CA22F5}"/>
              </a:ext>
            </a:extLst>
          </p:cNvPr>
          <p:cNvPicPr>
            <a:picLocks noChangeAspect="1"/>
          </p:cNvPicPr>
          <p:nvPr/>
        </p:nvPicPr>
        <p:blipFill>
          <a:blip r:embed="rId4"/>
          <a:stretch>
            <a:fillRect/>
          </a:stretch>
        </p:blipFill>
        <p:spPr>
          <a:xfrm>
            <a:off x="1225322" y="3609975"/>
            <a:ext cx="5016954" cy="121285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C4A330C5-125D-140E-4EF1-F96570368FCA}"/>
              </a:ext>
            </a:extLst>
          </p:cNvPr>
          <p:cNvPicPr>
            <a:picLocks noChangeAspect="1"/>
          </p:cNvPicPr>
          <p:nvPr/>
        </p:nvPicPr>
        <p:blipFill>
          <a:blip r:embed="rId5"/>
          <a:stretch>
            <a:fillRect/>
          </a:stretch>
        </p:blipFill>
        <p:spPr>
          <a:xfrm>
            <a:off x="4313238" y="4560207"/>
            <a:ext cx="2143125" cy="2077358"/>
          </a:xfrm>
          <a:prstGeom prst="rect">
            <a:avLst/>
          </a:prstGeom>
        </p:spPr>
      </p:pic>
    </p:spTree>
    <p:extLst>
      <p:ext uri="{BB962C8B-B14F-4D97-AF65-F5344CB8AC3E}">
        <p14:creationId xmlns:p14="http://schemas.microsoft.com/office/powerpoint/2010/main" val="2877432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8D81FF-B383-69A0-8911-638265A0E5FE}"/>
              </a:ext>
            </a:extLst>
          </p:cNvPr>
          <p:cNvSpPr txBox="1"/>
          <p:nvPr/>
        </p:nvSpPr>
        <p:spPr>
          <a:xfrm>
            <a:off x="522515" y="439057"/>
            <a:ext cx="9942285"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3C. What are the monthly trends in order volume and revenue?</a:t>
            </a:r>
          </a:p>
          <a:p>
            <a:pPr algn="ctr"/>
            <a:endParaRPr lang="en-US"/>
          </a:p>
        </p:txBody>
      </p:sp>
      <p:pic>
        <p:nvPicPr>
          <p:cNvPr id="3" name="Picture 2" descr="A computer code with text&#10;&#10;AI-generated content may be incorrect.">
            <a:extLst>
              <a:ext uri="{FF2B5EF4-FFF2-40B4-BE49-F238E27FC236}">
                <a16:creationId xmlns:a16="http://schemas.microsoft.com/office/drawing/2014/main" id="{F860BF4F-E4B4-4C18-81C2-735738683D06}"/>
              </a:ext>
            </a:extLst>
          </p:cNvPr>
          <p:cNvPicPr>
            <a:picLocks noChangeAspect="1"/>
          </p:cNvPicPr>
          <p:nvPr/>
        </p:nvPicPr>
        <p:blipFill>
          <a:blip r:embed="rId2"/>
          <a:stretch>
            <a:fillRect/>
          </a:stretch>
        </p:blipFill>
        <p:spPr>
          <a:xfrm>
            <a:off x="1253444" y="1118734"/>
            <a:ext cx="6753225" cy="3038475"/>
          </a:xfrm>
          <a:prstGeom prst="rect">
            <a:avLst/>
          </a:prstGeom>
        </p:spPr>
      </p:pic>
      <p:pic>
        <p:nvPicPr>
          <p:cNvPr id="4" name="Picture 3" descr="A screenshot of a table&#10;&#10;AI-generated content may be incorrect.">
            <a:extLst>
              <a:ext uri="{FF2B5EF4-FFF2-40B4-BE49-F238E27FC236}">
                <a16:creationId xmlns:a16="http://schemas.microsoft.com/office/drawing/2014/main" id="{345148D9-3369-90F6-A5E9-AC1D9A5035DA}"/>
              </a:ext>
            </a:extLst>
          </p:cNvPr>
          <p:cNvPicPr>
            <a:picLocks noChangeAspect="1"/>
          </p:cNvPicPr>
          <p:nvPr/>
        </p:nvPicPr>
        <p:blipFill>
          <a:blip r:embed="rId3"/>
          <a:stretch>
            <a:fillRect/>
          </a:stretch>
        </p:blipFill>
        <p:spPr>
          <a:xfrm>
            <a:off x="2648857" y="4378552"/>
            <a:ext cx="5181600" cy="2295525"/>
          </a:xfrm>
          <a:prstGeom prst="rect">
            <a:avLst/>
          </a:prstGeom>
        </p:spPr>
      </p:pic>
    </p:spTree>
    <p:extLst>
      <p:ext uri="{BB962C8B-B14F-4D97-AF65-F5344CB8AC3E}">
        <p14:creationId xmlns:p14="http://schemas.microsoft.com/office/powerpoint/2010/main" val="1358206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079CE9-8A73-3227-FCEF-EA6FA91012B2}"/>
              </a:ext>
            </a:extLst>
          </p:cNvPr>
          <p:cNvSpPr txBox="1"/>
          <p:nvPr/>
        </p:nvSpPr>
        <p:spPr>
          <a:xfrm>
            <a:off x="478971" y="1923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4️. Supplier Contribution</a:t>
            </a:r>
          </a:p>
          <a:p>
            <a:pPr algn="ctr"/>
            <a:endParaRPr lang="en-US"/>
          </a:p>
        </p:txBody>
      </p:sp>
      <p:sp>
        <p:nvSpPr>
          <p:cNvPr id="3" name="TextBox 2">
            <a:extLst>
              <a:ext uri="{FF2B5EF4-FFF2-40B4-BE49-F238E27FC236}">
                <a16:creationId xmlns:a16="http://schemas.microsoft.com/office/drawing/2014/main" id="{26CD2318-D020-954C-310F-21482B6F1594}"/>
              </a:ext>
            </a:extLst>
          </p:cNvPr>
          <p:cNvSpPr txBox="1"/>
          <p:nvPr/>
        </p:nvSpPr>
        <p:spPr>
          <a:xfrm>
            <a:off x="783771" y="1034143"/>
            <a:ext cx="773611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4A. How</a:t>
            </a:r>
            <a:r>
              <a:rPr lang="en-US" sz="2400" b="1" i="0" u="none" strike="noStrike">
                <a:solidFill>
                  <a:srgbClr val="000000"/>
                </a:solidFill>
                <a:latin typeface="Arial"/>
                <a:ea typeface="Arial"/>
                <a:cs typeface="Arial"/>
              </a:rPr>
              <a:t> many suppliers are there in the database?</a:t>
            </a:r>
            <a:endParaRPr lang="en-US" sz="2400" b="1"/>
          </a:p>
          <a:p>
            <a:pPr algn="ctr"/>
            <a:endParaRPr lang="en-US"/>
          </a:p>
        </p:txBody>
      </p:sp>
      <p:pic>
        <p:nvPicPr>
          <p:cNvPr id="4" name="Picture 3" descr="A close up of a smiley face&#10;&#10;AI-generated content may be incorrect.">
            <a:extLst>
              <a:ext uri="{FF2B5EF4-FFF2-40B4-BE49-F238E27FC236}">
                <a16:creationId xmlns:a16="http://schemas.microsoft.com/office/drawing/2014/main" id="{16321839-B9FA-8B3D-38F8-90B68C2FE679}"/>
              </a:ext>
            </a:extLst>
          </p:cNvPr>
          <p:cNvPicPr>
            <a:picLocks noChangeAspect="1"/>
          </p:cNvPicPr>
          <p:nvPr/>
        </p:nvPicPr>
        <p:blipFill>
          <a:blip r:embed="rId2"/>
          <a:stretch>
            <a:fillRect/>
          </a:stretch>
        </p:blipFill>
        <p:spPr>
          <a:xfrm>
            <a:off x="1221921" y="1607230"/>
            <a:ext cx="3695700" cy="581025"/>
          </a:xfrm>
          <a:prstGeom prst="rect">
            <a:avLst/>
          </a:prstGeom>
        </p:spPr>
      </p:pic>
      <p:pic>
        <p:nvPicPr>
          <p:cNvPr id="5" name="Picture 4" descr="A screen shot of a computer&#10;&#10;AI-generated content may be incorrect.">
            <a:extLst>
              <a:ext uri="{FF2B5EF4-FFF2-40B4-BE49-F238E27FC236}">
                <a16:creationId xmlns:a16="http://schemas.microsoft.com/office/drawing/2014/main" id="{89A17BD9-51A0-D9B7-FEF4-14E69DEAC489}"/>
              </a:ext>
            </a:extLst>
          </p:cNvPr>
          <p:cNvPicPr>
            <a:picLocks noChangeAspect="1"/>
          </p:cNvPicPr>
          <p:nvPr/>
        </p:nvPicPr>
        <p:blipFill>
          <a:blip r:embed="rId3"/>
          <a:stretch>
            <a:fillRect/>
          </a:stretch>
        </p:blipFill>
        <p:spPr>
          <a:xfrm>
            <a:off x="2200275" y="2193925"/>
            <a:ext cx="1695450" cy="742950"/>
          </a:xfrm>
          <a:prstGeom prst="rect">
            <a:avLst/>
          </a:prstGeom>
        </p:spPr>
      </p:pic>
      <p:sp>
        <p:nvSpPr>
          <p:cNvPr id="6" name="TextBox 5">
            <a:extLst>
              <a:ext uri="{FF2B5EF4-FFF2-40B4-BE49-F238E27FC236}">
                <a16:creationId xmlns:a16="http://schemas.microsoft.com/office/drawing/2014/main" id="{A558CB79-8A78-5CB2-3ED2-6ADE6130B83F}"/>
              </a:ext>
            </a:extLst>
          </p:cNvPr>
          <p:cNvSpPr txBox="1"/>
          <p:nvPr/>
        </p:nvSpPr>
        <p:spPr>
          <a:xfrm>
            <a:off x="689429" y="2942772"/>
            <a:ext cx="8360228"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4B. Which</a:t>
            </a:r>
            <a:r>
              <a:rPr lang="en-US" sz="2400" b="1" i="0" u="none" strike="noStrike">
                <a:solidFill>
                  <a:srgbClr val="000000"/>
                </a:solidFill>
                <a:latin typeface="Arial"/>
                <a:ea typeface="Arial"/>
                <a:cs typeface="Arial"/>
              </a:rPr>
              <a:t> supplier provides the most products?</a:t>
            </a:r>
            <a:endParaRPr lang="en-US" sz="2400" b="1"/>
          </a:p>
          <a:p>
            <a:pPr algn="ctr"/>
            <a:endParaRPr lang="en-US"/>
          </a:p>
        </p:txBody>
      </p:sp>
      <p:pic>
        <p:nvPicPr>
          <p:cNvPr id="7" name="Picture 6" descr="A computer screen shot of a computer code&#10;&#10;AI-generated content may be incorrect.">
            <a:extLst>
              <a:ext uri="{FF2B5EF4-FFF2-40B4-BE49-F238E27FC236}">
                <a16:creationId xmlns:a16="http://schemas.microsoft.com/office/drawing/2014/main" id="{1D4B453F-A3B5-4888-2C07-0E1166D95A00}"/>
              </a:ext>
            </a:extLst>
          </p:cNvPr>
          <p:cNvPicPr>
            <a:picLocks noChangeAspect="1"/>
          </p:cNvPicPr>
          <p:nvPr/>
        </p:nvPicPr>
        <p:blipFill>
          <a:blip r:embed="rId4"/>
          <a:stretch>
            <a:fillRect/>
          </a:stretch>
        </p:blipFill>
        <p:spPr>
          <a:xfrm>
            <a:off x="1221468" y="3616779"/>
            <a:ext cx="7296150" cy="1714500"/>
          </a:xfrm>
          <a:prstGeom prst="rect">
            <a:avLst/>
          </a:prstGeom>
        </p:spPr>
      </p:pic>
      <p:pic>
        <p:nvPicPr>
          <p:cNvPr id="8" name="Picture 7" descr="A close up of a white background&#10;&#10;AI-generated content may be incorrect.">
            <a:extLst>
              <a:ext uri="{FF2B5EF4-FFF2-40B4-BE49-F238E27FC236}">
                <a16:creationId xmlns:a16="http://schemas.microsoft.com/office/drawing/2014/main" id="{F14715B2-D43C-D29F-1035-C6026C6A8ADF}"/>
              </a:ext>
            </a:extLst>
          </p:cNvPr>
          <p:cNvPicPr>
            <a:picLocks noChangeAspect="1"/>
          </p:cNvPicPr>
          <p:nvPr/>
        </p:nvPicPr>
        <p:blipFill>
          <a:blip r:embed="rId5"/>
          <a:stretch>
            <a:fillRect/>
          </a:stretch>
        </p:blipFill>
        <p:spPr>
          <a:xfrm>
            <a:off x="2081439" y="5540601"/>
            <a:ext cx="2571750" cy="581025"/>
          </a:xfrm>
          <a:prstGeom prst="rect">
            <a:avLst/>
          </a:prstGeom>
        </p:spPr>
      </p:pic>
    </p:spTree>
    <p:extLst>
      <p:ext uri="{BB962C8B-B14F-4D97-AF65-F5344CB8AC3E}">
        <p14:creationId xmlns:p14="http://schemas.microsoft.com/office/powerpoint/2010/main" val="531391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53DD34-87FA-FAFD-8625-24DDC66BD9A1}"/>
              </a:ext>
            </a:extLst>
          </p:cNvPr>
          <p:cNvSpPr txBox="1"/>
          <p:nvPr/>
        </p:nvSpPr>
        <p:spPr>
          <a:xfrm>
            <a:off x="500744" y="337458"/>
            <a:ext cx="9630228"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4C. Which</a:t>
            </a:r>
            <a:r>
              <a:rPr lang="en-US" sz="2400" b="1" i="0" u="none" strike="noStrike">
                <a:solidFill>
                  <a:srgbClr val="000000"/>
                </a:solidFill>
                <a:latin typeface="Arial"/>
                <a:ea typeface="Arial"/>
                <a:cs typeface="Arial"/>
              </a:rPr>
              <a:t> suppliers contribute the most to total product sales (by revenue)?</a:t>
            </a:r>
            <a:endParaRPr lang="en-US" sz="2400" b="1"/>
          </a:p>
          <a:p>
            <a:pPr algn="ctr"/>
            <a:endParaRPr lang="en-US"/>
          </a:p>
        </p:txBody>
      </p:sp>
      <p:pic>
        <p:nvPicPr>
          <p:cNvPr id="3" name="Picture 2" descr="A computer screen shot of a computer code&#10;&#10;AI-generated content may be incorrect.">
            <a:extLst>
              <a:ext uri="{FF2B5EF4-FFF2-40B4-BE49-F238E27FC236}">
                <a16:creationId xmlns:a16="http://schemas.microsoft.com/office/drawing/2014/main" id="{CE7AC219-F100-F2B4-C7E4-85F2FC42E47F}"/>
              </a:ext>
            </a:extLst>
          </p:cNvPr>
          <p:cNvPicPr>
            <a:picLocks noChangeAspect="1"/>
          </p:cNvPicPr>
          <p:nvPr/>
        </p:nvPicPr>
        <p:blipFill>
          <a:blip r:embed="rId2"/>
          <a:stretch>
            <a:fillRect/>
          </a:stretch>
        </p:blipFill>
        <p:spPr>
          <a:xfrm>
            <a:off x="1116467" y="1341210"/>
            <a:ext cx="7781925" cy="2339521"/>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180277AF-9993-1D6B-A874-79185D6EDCAB}"/>
              </a:ext>
            </a:extLst>
          </p:cNvPr>
          <p:cNvPicPr>
            <a:picLocks noChangeAspect="1"/>
          </p:cNvPicPr>
          <p:nvPr/>
        </p:nvPicPr>
        <p:blipFill>
          <a:blip r:embed="rId3"/>
          <a:stretch>
            <a:fillRect/>
          </a:stretch>
        </p:blipFill>
        <p:spPr>
          <a:xfrm>
            <a:off x="2516414" y="4155849"/>
            <a:ext cx="3429000" cy="1819275"/>
          </a:xfrm>
          <a:prstGeom prst="rect">
            <a:avLst/>
          </a:prstGeom>
        </p:spPr>
      </p:pic>
    </p:spTree>
    <p:extLst>
      <p:ext uri="{BB962C8B-B14F-4D97-AF65-F5344CB8AC3E}">
        <p14:creationId xmlns:p14="http://schemas.microsoft.com/office/powerpoint/2010/main" val="3800851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8A9726-0C69-8ECB-D176-731DC0533941}"/>
              </a:ext>
            </a:extLst>
          </p:cNvPr>
          <p:cNvSpPr txBox="1"/>
          <p:nvPr/>
        </p:nvSpPr>
        <p:spPr>
          <a:xfrm>
            <a:off x="399143" y="156029"/>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5️. Employee Performance</a:t>
            </a:r>
          </a:p>
          <a:p>
            <a:pPr algn="ctr"/>
            <a:endParaRPr lang="en-US"/>
          </a:p>
        </p:txBody>
      </p:sp>
      <p:sp>
        <p:nvSpPr>
          <p:cNvPr id="3" name="TextBox 2">
            <a:extLst>
              <a:ext uri="{FF2B5EF4-FFF2-40B4-BE49-F238E27FC236}">
                <a16:creationId xmlns:a16="http://schemas.microsoft.com/office/drawing/2014/main" id="{70B67B14-A214-F8D5-D0CA-53E90103B0FB}"/>
              </a:ext>
            </a:extLst>
          </p:cNvPr>
          <p:cNvSpPr txBox="1"/>
          <p:nvPr/>
        </p:nvSpPr>
        <p:spPr>
          <a:xfrm>
            <a:off x="718458" y="1034142"/>
            <a:ext cx="8019142"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5A. How</a:t>
            </a:r>
            <a:r>
              <a:rPr lang="en-US" sz="2400" b="1" i="0" u="none" strike="noStrike">
                <a:solidFill>
                  <a:srgbClr val="000000"/>
                </a:solidFill>
                <a:latin typeface="Arial"/>
                <a:ea typeface="Arial"/>
                <a:cs typeface="Arial"/>
              </a:rPr>
              <a:t> many employees have processed orders</a:t>
            </a:r>
            <a:r>
              <a:rPr lang="en-US" sz="2400" b="1" i="0" u="none" strike="noStrike" dirty="0">
                <a:solidFill>
                  <a:srgbClr val="000000"/>
                </a:solidFill>
                <a:latin typeface="Arial"/>
                <a:ea typeface="Arial"/>
                <a:cs typeface="Arial"/>
              </a:rPr>
              <a:t>?</a:t>
            </a:r>
            <a:endParaRPr lang="en-US" sz="2400" b="1" dirty="0"/>
          </a:p>
          <a:p>
            <a:pPr algn="ctr"/>
            <a:endParaRPr lang="en-US"/>
          </a:p>
        </p:txBody>
      </p:sp>
      <p:pic>
        <p:nvPicPr>
          <p:cNvPr id="4" name="Picture 3" descr="A white background with black text&#10;&#10;AI-generated content may be incorrect.">
            <a:extLst>
              <a:ext uri="{FF2B5EF4-FFF2-40B4-BE49-F238E27FC236}">
                <a16:creationId xmlns:a16="http://schemas.microsoft.com/office/drawing/2014/main" id="{84A56E22-77B8-BDFC-2546-D3E141F22707}"/>
              </a:ext>
            </a:extLst>
          </p:cNvPr>
          <p:cNvPicPr>
            <a:picLocks noChangeAspect="1"/>
          </p:cNvPicPr>
          <p:nvPr/>
        </p:nvPicPr>
        <p:blipFill>
          <a:blip r:embed="rId2"/>
          <a:stretch>
            <a:fillRect/>
          </a:stretch>
        </p:blipFill>
        <p:spPr>
          <a:xfrm>
            <a:off x="1256166" y="1715861"/>
            <a:ext cx="8010525" cy="177165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0B41C7E8-25FB-D014-4D77-EE86FF10E2A6}"/>
              </a:ext>
            </a:extLst>
          </p:cNvPr>
          <p:cNvPicPr>
            <a:picLocks noChangeAspect="1"/>
          </p:cNvPicPr>
          <p:nvPr/>
        </p:nvPicPr>
        <p:blipFill>
          <a:blip r:embed="rId3"/>
          <a:stretch>
            <a:fillRect/>
          </a:stretch>
        </p:blipFill>
        <p:spPr>
          <a:xfrm>
            <a:off x="2383290" y="3672342"/>
            <a:ext cx="4108903" cy="2670174"/>
          </a:xfrm>
          <a:prstGeom prst="rect">
            <a:avLst/>
          </a:prstGeom>
        </p:spPr>
      </p:pic>
    </p:spTree>
    <p:extLst>
      <p:ext uri="{BB962C8B-B14F-4D97-AF65-F5344CB8AC3E}">
        <p14:creationId xmlns:p14="http://schemas.microsoft.com/office/powerpoint/2010/main" val="1281862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9EDD2-A9BC-789A-BC7B-575733321E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4C0FF1-CBB8-251A-E5BA-88B43758407B}"/>
              </a:ext>
            </a:extLst>
          </p:cNvPr>
          <p:cNvSpPr txBox="1"/>
          <p:nvPr/>
        </p:nvSpPr>
        <p:spPr>
          <a:xfrm>
            <a:off x="457200" y="308429"/>
            <a:ext cx="8251371"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5B. Which</a:t>
            </a:r>
            <a:r>
              <a:rPr lang="en-US" sz="2400" b="1" i="0" u="none" strike="noStrike">
                <a:solidFill>
                  <a:srgbClr val="000000"/>
                </a:solidFill>
                <a:latin typeface="Arial"/>
                <a:ea typeface="Arial"/>
                <a:cs typeface="Arial"/>
              </a:rPr>
              <a:t> employees have handled the most orders?</a:t>
            </a:r>
            <a:endParaRPr lang="en-US" sz="2400" b="1"/>
          </a:p>
          <a:p>
            <a:pPr algn="ctr"/>
            <a:endParaRPr lang="en-US"/>
          </a:p>
        </p:txBody>
      </p:sp>
      <p:pic>
        <p:nvPicPr>
          <p:cNvPr id="3" name="Picture 2" descr="A computer code with black text&#10;&#10;AI-generated content may be incorrect.">
            <a:extLst>
              <a:ext uri="{FF2B5EF4-FFF2-40B4-BE49-F238E27FC236}">
                <a16:creationId xmlns:a16="http://schemas.microsoft.com/office/drawing/2014/main" id="{4BF3E6A5-9C6E-7B7E-B11E-1A5147F3BD68}"/>
              </a:ext>
            </a:extLst>
          </p:cNvPr>
          <p:cNvPicPr>
            <a:picLocks noChangeAspect="1"/>
          </p:cNvPicPr>
          <p:nvPr/>
        </p:nvPicPr>
        <p:blipFill>
          <a:blip r:embed="rId2"/>
          <a:stretch>
            <a:fillRect/>
          </a:stretch>
        </p:blipFill>
        <p:spPr>
          <a:xfrm>
            <a:off x="1179286" y="983115"/>
            <a:ext cx="6437085" cy="2417081"/>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C1772375-8112-E926-7C98-5778F0E26175}"/>
              </a:ext>
            </a:extLst>
          </p:cNvPr>
          <p:cNvPicPr>
            <a:picLocks noChangeAspect="1"/>
          </p:cNvPicPr>
          <p:nvPr/>
        </p:nvPicPr>
        <p:blipFill>
          <a:blip r:embed="rId3"/>
          <a:stretch>
            <a:fillRect/>
          </a:stretch>
        </p:blipFill>
        <p:spPr>
          <a:xfrm>
            <a:off x="2026331" y="3696381"/>
            <a:ext cx="4068082" cy="2469696"/>
          </a:xfrm>
          <a:prstGeom prst="rect">
            <a:avLst/>
          </a:prstGeom>
        </p:spPr>
      </p:pic>
    </p:spTree>
    <p:extLst>
      <p:ext uri="{BB962C8B-B14F-4D97-AF65-F5344CB8AC3E}">
        <p14:creationId xmlns:p14="http://schemas.microsoft.com/office/powerpoint/2010/main" val="1026512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56A7C1-FA6B-002F-C15D-8640F5D70E27}"/>
              </a:ext>
            </a:extLst>
          </p:cNvPr>
          <p:cNvSpPr txBox="1"/>
          <p:nvPr/>
        </p:nvSpPr>
        <p:spPr>
          <a:xfrm>
            <a:off x="500743" y="337458"/>
            <a:ext cx="9905999"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5C. What</a:t>
            </a:r>
            <a:r>
              <a:rPr lang="en-US" sz="2400" b="1" i="0" u="none" strike="noStrike">
                <a:solidFill>
                  <a:srgbClr val="000000"/>
                </a:solidFill>
                <a:latin typeface="Arial"/>
                <a:ea typeface="Arial"/>
                <a:cs typeface="Arial"/>
              </a:rPr>
              <a:t> is the average order value handled per employee?</a:t>
            </a:r>
            <a:endParaRPr lang="en-US" sz="2400" b="1"/>
          </a:p>
          <a:p>
            <a:pPr algn="ctr"/>
            <a:endParaRPr lang="en-US"/>
          </a:p>
        </p:txBody>
      </p:sp>
      <p:pic>
        <p:nvPicPr>
          <p:cNvPr id="3" name="Picture 2" descr="A screenshot of a computer code&#10;&#10;AI-generated content may be incorrect.">
            <a:extLst>
              <a:ext uri="{FF2B5EF4-FFF2-40B4-BE49-F238E27FC236}">
                <a16:creationId xmlns:a16="http://schemas.microsoft.com/office/drawing/2014/main" id="{8EE49322-8C4A-60EA-4A7E-0C8AFFEA1064}"/>
              </a:ext>
            </a:extLst>
          </p:cNvPr>
          <p:cNvPicPr>
            <a:picLocks noChangeAspect="1"/>
          </p:cNvPicPr>
          <p:nvPr/>
        </p:nvPicPr>
        <p:blipFill>
          <a:blip r:embed="rId2"/>
          <a:stretch>
            <a:fillRect/>
          </a:stretch>
        </p:blipFill>
        <p:spPr>
          <a:xfrm>
            <a:off x="1475242" y="1009650"/>
            <a:ext cx="4829175" cy="468630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72F618B9-25AD-8AB1-C705-2F643E667C74}"/>
              </a:ext>
            </a:extLst>
          </p:cNvPr>
          <p:cNvPicPr>
            <a:picLocks noChangeAspect="1"/>
          </p:cNvPicPr>
          <p:nvPr/>
        </p:nvPicPr>
        <p:blipFill>
          <a:blip r:embed="rId3"/>
          <a:stretch>
            <a:fillRect/>
          </a:stretch>
        </p:blipFill>
        <p:spPr>
          <a:xfrm>
            <a:off x="6978876" y="2201184"/>
            <a:ext cx="4446360" cy="2796720"/>
          </a:xfrm>
          <a:prstGeom prst="rect">
            <a:avLst/>
          </a:prstGeom>
        </p:spPr>
      </p:pic>
    </p:spTree>
    <p:extLst>
      <p:ext uri="{BB962C8B-B14F-4D97-AF65-F5344CB8AC3E}">
        <p14:creationId xmlns:p14="http://schemas.microsoft.com/office/powerpoint/2010/main" val="856451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EEBA9B-5F02-136D-76BE-E23D56D0E2D2}"/>
              </a:ext>
            </a:extLst>
          </p:cNvPr>
          <p:cNvSpPr txBox="1"/>
          <p:nvPr/>
        </p:nvSpPr>
        <p:spPr>
          <a:xfrm>
            <a:off x="435429" y="228600"/>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6️. Order Details Deep Dive</a:t>
            </a:r>
          </a:p>
          <a:p>
            <a:pPr algn="ctr"/>
            <a:endParaRPr lang="en-US"/>
          </a:p>
        </p:txBody>
      </p:sp>
      <p:sp>
        <p:nvSpPr>
          <p:cNvPr id="3" name="TextBox 2">
            <a:extLst>
              <a:ext uri="{FF2B5EF4-FFF2-40B4-BE49-F238E27FC236}">
                <a16:creationId xmlns:a16="http://schemas.microsoft.com/office/drawing/2014/main" id="{EADD6649-88C3-DA04-0CD3-E79C57DD9C60}"/>
              </a:ext>
            </a:extLst>
          </p:cNvPr>
          <p:cNvSpPr txBox="1"/>
          <p:nvPr/>
        </p:nvSpPr>
        <p:spPr>
          <a:xfrm>
            <a:off x="914400" y="932543"/>
            <a:ext cx="9739085"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6A. What</a:t>
            </a:r>
            <a:r>
              <a:rPr lang="en-US" sz="2400" b="1" i="0" u="none" strike="noStrike">
                <a:solidFill>
                  <a:srgbClr val="000000"/>
                </a:solidFill>
                <a:latin typeface="Arial"/>
                <a:ea typeface="Arial"/>
                <a:cs typeface="Arial"/>
              </a:rPr>
              <a:t> is the relationship between quantity ordered and total price?</a:t>
            </a:r>
            <a:endParaRPr lang="en-US" sz="2400" b="1"/>
          </a:p>
          <a:p>
            <a:pPr algn="ctr"/>
            <a:endParaRPr lang="en-US"/>
          </a:p>
        </p:txBody>
      </p:sp>
      <p:pic>
        <p:nvPicPr>
          <p:cNvPr id="4" name="Picture 3" descr="A computer screen shot of a code&#10;&#10;AI-generated content may be incorrect.">
            <a:extLst>
              <a:ext uri="{FF2B5EF4-FFF2-40B4-BE49-F238E27FC236}">
                <a16:creationId xmlns:a16="http://schemas.microsoft.com/office/drawing/2014/main" id="{AD530C0B-DD58-3B28-16ED-EC22D8F5FB31}"/>
              </a:ext>
            </a:extLst>
          </p:cNvPr>
          <p:cNvPicPr>
            <a:picLocks noChangeAspect="1"/>
          </p:cNvPicPr>
          <p:nvPr/>
        </p:nvPicPr>
        <p:blipFill>
          <a:blip r:embed="rId2"/>
          <a:stretch>
            <a:fillRect/>
          </a:stretch>
        </p:blipFill>
        <p:spPr>
          <a:xfrm>
            <a:off x="1333500" y="2013858"/>
            <a:ext cx="4474027" cy="297542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DC1DC5C-82CC-811A-E3F2-06241B3260F8}"/>
              </a:ext>
            </a:extLst>
          </p:cNvPr>
          <p:cNvPicPr>
            <a:picLocks noChangeAspect="1"/>
          </p:cNvPicPr>
          <p:nvPr/>
        </p:nvPicPr>
        <p:blipFill>
          <a:blip r:embed="rId3"/>
          <a:stretch>
            <a:fillRect/>
          </a:stretch>
        </p:blipFill>
        <p:spPr>
          <a:xfrm>
            <a:off x="6093504" y="2266950"/>
            <a:ext cx="4526189" cy="2781300"/>
          </a:xfrm>
          <a:prstGeom prst="rect">
            <a:avLst/>
          </a:prstGeom>
        </p:spPr>
      </p:pic>
    </p:spTree>
    <p:extLst>
      <p:ext uri="{BB962C8B-B14F-4D97-AF65-F5344CB8AC3E}">
        <p14:creationId xmlns:p14="http://schemas.microsoft.com/office/powerpoint/2010/main" val="3354156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B741D3-0E88-3CED-DBB5-7BC12DB585BA}"/>
              </a:ext>
            </a:extLst>
          </p:cNvPr>
          <p:cNvSpPr txBox="1"/>
          <p:nvPr/>
        </p:nvSpPr>
        <p:spPr>
          <a:xfrm>
            <a:off x="653143" y="381000"/>
            <a:ext cx="9448799"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6B. What</a:t>
            </a:r>
            <a:r>
              <a:rPr lang="en-US" sz="2400" b="1" i="0" u="none" strike="noStrike">
                <a:solidFill>
                  <a:srgbClr val="000000"/>
                </a:solidFill>
                <a:latin typeface="Arial"/>
                <a:ea typeface="Arial"/>
                <a:cs typeface="Arial"/>
              </a:rPr>
              <a:t> is the average quantity ordered per product?</a:t>
            </a:r>
            <a:endParaRPr lang="en-US" sz="2400" b="1"/>
          </a:p>
          <a:p>
            <a:pPr algn="ctr"/>
            <a:endParaRPr lang="en-US"/>
          </a:p>
        </p:txBody>
      </p:sp>
      <p:pic>
        <p:nvPicPr>
          <p:cNvPr id="3" name="Picture 2" descr="A white background with black text&#10;&#10;AI-generated content may be incorrect.">
            <a:extLst>
              <a:ext uri="{FF2B5EF4-FFF2-40B4-BE49-F238E27FC236}">
                <a16:creationId xmlns:a16="http://schemas.microsoft.com/office/drawing/2014/main" id="{597BEC0D-3B00-B058-C5FB-5598F7EE255B}"/>
              </a:ext>
            </a:extLst>
          </p:cNvPr>
          <p:cNvPicPr>
            <a:picLocks noChangeAspect="1"/>
          </p:cNvPicPr>
          <p:nvPr/>
        </p:nvPicPr>
        <p:blipFill>
          <a:blip r:embed="rId2"/>
          <a:stretch>
            <a:fillRect/>
          </a:stretch>
        </p:blipFill>
        <p:spPr>
          <a:xfrm>
            <a:off x="1501095" y="1063398"/>
            <a:ext cx="8064953" cy="216217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A6045913-39CB-D6C9-E063-D0025D695E8E}"/>
              </a:ext>
            </a:extLst>
          </p:cNvPr>
          <p:cNvPicPr>
            <a:picLocks noChangeAspect="1"/>
          </p:cNvPicPr>
          <p:nvPr/>
        </p:nvPicPr>
        <p:blipFill>
          <a:blip r:embed="rId3"/>
          <a:stretch>
            <a:fillRect/>
          </a:stretch>
        </p:blipFill>
        <p:spPr>
          <a:xfrm>
            <a:off x="1955346" y="3428093"/>
            <a:ext cx="4137478" cy="2745014"/>
          </a:xfrm>
          <a:prstGeom prst="rect">
            <a:avLst/>
          </a:prstGeom>
        </p:spPr>
      </p:pic>
    </p:spTree>
    <p:extLst>
      <p:ext uri="{BB962C8B-B14F-4D97-AF65-F5344CB8AC3E}">
        <p14:creationId xmlns:p14="http://schemas.microsoft.com/office/powerpoint/2010/main" val="2513553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8F8ACB-4BF5-333A-8F33-C06C6AFABB00}"/>
              </a:ext>
            </a:extLst>
          </p:cNvPr>
          <p:cNvSpPr txBox="1"/>
          <p:nvPr/>
        </p:nvSpPr>
        <p:spPr>
          <a:xfrm>
            <a:off x="493486" y="402771"/>
            <a:ext cx="9775371"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6C. How</a:t>
            </a:r>
            <a:r>
              <a:rPr lang="en-US" sz="2400" b="1" i="0" u="none" strike="noStrike">
                <a:solidFill>
                  <a:srgbClr val="000000"/>
                </a:solidFill>
                <a:latin typeface="Arial"/>
                <a:ea typeface="Arial"/>
                <a:cs typeface="Arial"/>
              </a:rPr>
              <a:t> does the unit price vary across products and orders?</a:t>
            </a:r>
            <a:endParaRPr lang="en-US" sz="2400" b="1"/>
          </a:p>
          <a:p>
            <a:pPr algn="ctr"/>
            <a:endParaRPr lang="en-US"/>
          </a:p>
        </p:txBody>
      </p:sp>
      <p:pic>
        <p:nvPicPr>
          <p:cNvPr id="3" name="Picture 2" descr="A screenshot of a computer code&#10;&#10;AI-generated content may be incorrect.">
            <a:extLst>
              <a:ext uri="{FF2B5EF4-FFF2-40B4-BE49-F238E27FC236}">
                <a16:creationId xmlns:a16="http://schemas.microsoft.com/office/drawing/2014/main" id="{6C3769E1-4924-0170-D1A8-432DD747F0F8}"/>
              </a:ext>
            </a:extLst>
          </p:cNvPr>
          <p:cNvPicPr>
            <a:picLocks noChangeAspect="1"/>
          </p:cNvPicPr>
          <p:nvPr/>
        </p:nvPicPr>
        <p:blipFill>
          <a:blip r:embed="rId2"/>
          <a:stretch>
            <a:fillRect/>
          </a:stretch>
        </p:blipFill>
        <p:spPr>
          <a:xfrm>
            <a:off x="1271588" y="1082221"/>
            <a:ext cx="5265510" cy="3009900"/>
          </a:xfrm>
          <a:prstGeom prst="rect">
            <a:avLst/>
          </a:prstGeom>
        </p:spPr>
      </p:pic>
      <p:pic>
        <p:nvPicPr>
          <p:cNvPr id="4" name="Picture 3" descr="A screenshot of a data&#10;&#10;AI-generated content may be incorrect.">
            <a:extLst>
              <a:ext uri="{FF2B5EF4-FFF2-40B4-BE49-F238E27FC236}">
                <a16:creationId xmlns:a16="http://schemas.microsoft.com/office/drawing/2014/main" id="{FC2B324B-E3A8-E26F-0D42-B1D84B115BE2}"/>
              </a:ext>
            </a:extLst>
          </p:cNvPr>
          <p:cNvPicPr>
            <a:picLocks noChangeAspect="1"/>
          </p:cNvPicPr>
          <p:nvPr/>
        </p:nvPicPr>
        <p:blipFill>
          <a:blip r:embed="rId3"/>
          <a:stretch>
            <a:fillRect/>
          </a:stretch>
        </p:blipFill>
        <p:spPr>
          <a:xfrm>
            <a:off x="1556430" y="4284436"/>
            <a:ext cx="5915025" cy="2324100"/>
          </a:xfrm>
          <a:prstGeom prst="rect">
            <a:avLst/>
          </a:prstGeom>
        </p:spPr>
      </p:pic>
    </p:spTree>
    <p:extLst>
      <p:ext uri="{BB962C8B-B14F-4D97-AF65-F5344CB8AC3E}">
        <p14:creationId xmlns:p14="http://schemas.microsoft.com/office/powerpoint/2010/main" val="4223986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766E0-F9F0-8F3D-D86D-8C0987183400}"/>
              </a:ext>
            </a:extLst>
          </p:cNvPr>
          <p:cNvSpPr>
            <a:spLocks noGrp="1"/>
          </p:cNvSpPr>
          <p:nvPr>
            <p:ph type="title"/>
          </p:nvPr>
        </p:nvSpPr>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Key Findings</a:t>
            </a:r>
          </a:p>
        </p:txBody>
      </p:sp>
      <p:sp>
        <p:nvSpPr>
          <p:cNvPr id="3" name="Text Placeholder 2">
            <a:extLst>
              <a:ext uri="{FF2B5EF4-FFF2-40B4-BE49-F238E27FC236}">
                <a16:creationId xmlns:a16="http://schemas.microsoft.com/office/drawing/2014/main" id="{D0FC081A-ADBB-D80E-BF68-54C90E6D8D33}"/>
              </a:ext>
            </a:extLst>
          </p:cNvPr>
          <p:cNvSpPr>
            <a:spLocks noGrp="1"/>
          </p:cNvSpPr>
          <p:nvPr>
            <p:ph type="body" idx="1"/>
          </p:nvPr>
        </p:nvSpPr>
        <p:spPr/>
        <p:txBody>
          <a:bodyPr/>
          <a:lstStyle/>
          <a:p>
            <a:r>
              <a:rPr lang="en-IN" dirty="0"/>
              <a:t>Identified the highest revenue-generating products.</a:t>
            </a:r>
          </a:p>
          <a:p>
            <a:r>
              <a:rPr lang="en-IN" dirty="0"/>
              <a:t>Found the top customers based on purchase value.</a:t>
            </a:r>
          </a:p>
          <a:p>
            <a:r>
              <a:rPr lang="en-IN" dirty="0" err="1"/>
              <a:t>Analyzed</a:t>
            </a:r>
            <a:r>
              <a:rPr lang="en-IN" dirty="0"/>
              <a:t> monthly sales trends.</a:t>
            </a:r>
          </a:p>
          <a:p>
            <a:r>
              <a:rPr lang="en-IN" dirty="0"/>
              <a:t>Evaluated supplier contributions.</a:t>
            </a:r>
          </a:p>
          <a:p>
            <a:r>
              <a:rPr lang="en-IN" dirty="0"/>
              <a:t>Compared employee performance.</a:t>
            </a:r>
          </a:p>
          <a:p>
            <a:r>
              <a:rPr lang="en-IN" dirty="0"/>
              <a:t>Generated business reports using SQL.</a:t>
            </a:r>
          </a:p>
          <a:p>
            <a:endParaRPr lang="en-IN" dirty="0"/>
          </a:p>
        </p:txBody>
      </p:sp>
    </p:spTree>
    <p:extLst>
      <p:ext uri="{BB962C8B-B14F-4D97-AF65-F5344CB8AC3E}">
        <p14:creationId xmlns:p14="http://schemas.microsoft.com/office/powerpoint/2010/main" val="3791875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B3C49A-28B1-D61B-394D-588F378391CE}"/>
              </a:ext>
            </a:extLst>
          </p:cNvPr>
          <p:cNvSpPr txBox="1"/>
          <p:nvPr/>
        </p:nvSpPr>
        <p:spPr>
          <a:xfrm>
            <a:off x="1" y="1"/>
            <a:ext cx="11985170" cy="5816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Experience</a:t>
            </a:r>
          </a:p>
          <a:p>
            <a:pPr marL="342900" indent="-342900">
              <a:buFont typeface="Arial" panose="020B0604020202020204" pitchFamily="34" charset="0"/>
              <a:buChar char="•"/>
            </a:pPr>
            <a:endParaRPr lang="en-US" sz="2400" b="1" dirty="0"/>
          </a:p>
          <a:p>
            <a:pPr marL="457200" indent="-457200">
              <a:buFont typeface="Arial" panose="020B0604020202020204" pitchFamily="34" charset="0"/>
              <a:buChar char="•"/>
            </a:pPr>
            <a:r>
              <a:rPr lang="en-IN" sz="2800" dirty="0"/>
              <a:t>Worked with a structured relational database to manage and </a:t>
            </a:r>
            <a:r>
              <a:rPr lang="en-IN" sz="2800" dirty="0" err="1"/>
              <a:t>analyze</a:t>
            </a:r>
            <a:r>
              <a:rPr lang="en-IN" sz="2800" dirty="0"/>
              <a:t> grocery store data.</a:t>
            </a:r>
          </a:p>
          <a:p>
            <a:pPr marL="457200" indent="-457200">
              <a:buFont typeface="Arial" panose="020B0604020202020204" pitchFamily="34" charset="0"/>
              <a:buChar char="•"/>
            </a:pPr>
            <a:r>
              <a:rPr lang="en-IN" sz="2800" dirty="0"/>
              <a:t> Applied SQL concepts including </a:t>
            </a:r>
            <a:r>
              <a:rPr lang="en-IN" sz="2800" b="1" dirty="0"/>
              <a:t>JOINs, Aggregate Functions, Subqueries, Window Functions, GROUP BY, HAVING, and Date Functions</a:t>
            </a:r>
            <a:r>
              <a:rPr lang="en-IN" sz="2800" dirty="0"/>
              <a:t>. </a:t>
            </a:r>
          </a:p>
          <a:p>
            <a:pPr marL="457200" indent="-457200">
              <a:buFont typeface="Arial" panose="020B0604020202020204" pitchFamily="34" charset="0"/>
              <a:buChar char="•"/>
            </a:pPr>
            <a:r>
              <a:rPr lang="en-IN" sz="2800" dirty="0"/>
              <a:t>Performed data analysis to identify sales trends, customer </a:t>
            </a:r>
            <a:r>
              <a:rPr lang="en-IN" sz="2800" dirty="0" err="1"/>
              <a:t>behavior</a:t>
            </a:r>
            <a:r>
              <a:rPr lang="en-IN" sz="2800" dirty="0"/>
              <a:t>, and product performance. </a:t>
            </a:r>
          </a:p>
          <a:p>
            <a:pPr marL="457200" indent="-457200">
              <a:buFont typeface="Arial" panose="020B0604020202020204" pitchFamily="34" charset="0"/>
              <a:buChar char="•"/>
            </a:pPr>
            <a:r>
              <a:rPr lang="en-IN" sz="2800" dirty="0"/>
              <a:t>Developed analytical thinking by solving real-world business problems using SQL.</a:t>
            </a:r>
          </a:p>
          <a:p>
            <a:pPr marL="457200" indent="-457200">
              <a:buFont typeface="Arial" panose="020B0604020202020204" pitchFamily="34" charset="0"/>
              <a:buChar char="•"/>
            </a:pPr>
            <a:r>
              <a:rPr lang="en-IN" sz="2800" dirty="0"/>
              <a:t> Created business reports and dashboards that support informed decision-making through data insights.</a:t>
            </a:r>
            <a:endParaRPr lang="en-US" dirty="0"/>
          </a:p>
        </p:txBody>
      </p:sp>
    </p:spTree>
    <p:extLst>
      <p:ext uri="{BB962C8B-B14F-4D97-AF65-F5344CB8AC3E}">
        <p14:creationId xmlns:p14="http://schemas.microsoft.com/office/powerpoint/2010/main" val="290747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01D819-A0CE-E81D-D324-E6D0FEB4AFAD}"/>
              </a:ext>
            </a:extLst>
          </p:cNvPr>
          <p:cNvSpPr txBox="1"/>
          <p:nvPr/>
        </p:nvSpPr>
        <p:spPr>
          <a:xfrm>
            <a:off x="0" y="0"/>
            <a:ext cx="11876314" cy="33547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FF0000"/>
                </a:solidFill>
                <a:effectLst>
                  <a:outerShdw blurRad="38100" dist="38100" dir="2700000" algn="tl">
                    <a:srgbClr val="000000">
                      <a:alpha val="43137"/>
                    </a:srgbClr>
                  </a:outerShdw>
                </a:effectLst>
                <a:latin typeface="Times New Roman"/>
                <a:ea typeface="Calibri" panose="020F0502020204030204"/>
                <a:cs typeface="Times New Roman"/>
              </a:rPr>
              <a:t>Challenges</a:t>
            </a:r>
          </a:p>
          <a:p>
            <a:endParaRPr lang="en-US" b="1" dirty="0"/>
          </a:p>
          <a:p>
            <a:endParaRPr lang="en-US" b="1" dirty="0"/>
          </a:p>
          <a:p>
            <a:pPr>
              <a:buFont typeface=""/>
              <a:buChar char="•"/>
            </a:pPr>
            <a:r>
              <a:rPr lang="en-IN" sz="2400" dirty="0"/>
              <a:t>Designing efficient SQL queries by working with multiple related tables.</a:t>
            </a:r>
          </a:p>
          <a:p>
            <a:pPr>
              <a:buFont typeface=""/>
              <a:buChar char="•"/>
            </a:pPr>
            <a:r>
              <a:rPr lang="en-IN" sz="2400" dirty="0"/>
              <a:t> Applying advanced SQL concepts such as </a:t>
            </a:r>
            <a:r>
              <a:rPr lang="en-IN" sz="2400" b="1" dirty="0"/>
              <a:t>JOINs, Subqueries, and Window Functions</a:t>
            </a:r>
            <a:r>
              <a:rPr lang="en-IN" sz="2400" dirty="0"/>
              <a:t> to solve business problems. </a:t>
            </a:r>
          </a:p>
          <a:p>
            <a:pPr>
              <a:buFont typeface=""/>
              <a:buChar char="•"/>
            </a:pPr>
            <a:r>
              <a:rPr lang="en-IN" sz="2400" dirty="0"/>
              <a:t>Managing date formats and ensuring accurate time-based analysis.</a:t>
            </a:r>
          </a:p>
          <a:p>
            <a:pPr>
              <a:buFont typeface=""/>
              <a:buChar char="•"/>
            </a:pPr>
            <a:r>
              <a:rPr lang="en-IN" sz="2400" dirty="0"/>
              <a:t> Validating calculations for sales, revenue, customer insights, and business metrics.</a:t>
            </a:r>
          </a:p>
          <a:p>
            <a:pPr>
              <a:buFont typeface=""/>
              <a:buChar char="•"/>
            </a:pPr>
            <a:r>
              <a:rPr lang="en-IN" sz="2400" dirty="0"/>
              <a:t> Translating business requirements into optimized and meaningful SQL queries</a:t>
            </a:r>
            <a:endParaRPr lang="en-US" dirty="0"/>
          </a:p>
        </p:txBody>
      </p:sp>
    </p:spTree>
    <p:extLst>
      <p:ext uri="{BB962C8B-B14F-4D97-AF65-F5344CB8AC3E}">
        <p14:creationId xmlns:p14="http://schemas.microsoft.com/office/powerpoint/2010/main" val="509763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542020-A2C5-06A7-77CE-7F7D9EFA6465}"/>
              </a:ext>
            </a:extLst>
          </p:cNvPr>
          <p:cNvSpPr txBox="1"/>
          <p:nvPr/>
        </p:nvSpPr>
        <p:spPr>
          <a:xfrm>
            <a:off x="0" y="1"/>
            <a:ext cx="12192000"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rgbClr val="FF0000"/>
                </a:solidFill>
                <a:latin typeface="Times New Roman" panose="02020603050405020304" pitchFamily="18" charset="0"/>
                <a:cs typeface="Times New Roman" panose="02020603050405020304" pitchFamily="18" charset="0"/>
              </a:rPr>
              <a:t>Conclusion</a:t>
            </a:r>
          </a:p>
          <a:p>
            <a:pPr>
              <a:buFont typeface=""/>
              <a:buChar char="•"/>
            </a:pPr>
            <a:r>
              <a:rPr lang="en-IN" sz="2400" dirty="0"/>
              <a:t>Successfully </a:t>
            </a:r>
            <a:r>
              <a:rPr lang="en-IN" sz="2400" dirty="0" err="1"/>
              <a:t>analyzed</a:t>
            </a:r>
            <a:r>
              <a:rPr lang="en-IN" sz="2400" dirty="0"/>
              <a:t> the Grocery Store Management database using SQL.</a:t>
            </a:r>
          </a:p>
          <a:p>
            <a:pPr>
              <a:buFont typeface=""/>
              <a:buChar char="•"/>
            </a:pPr>
            <a:r>
              <a:rPr lang="en-IN" sz="2400" dirty="0"/>
              <a:t> Generated business insights from customer, product, supplier, employee, and sales data. </a:t>
            </a:r>
          </a:p>
          <a:p>
            <a:pPr>
              <a:buFont typeface=""/>
              <a:buChar char="•"/>
            </a:pPr>
            <a:r>
              <a:rPr lang="en-IN" sz="2400" dirty="0"/>
              <a:t>Applied SQL concepts including JOINs, Aggregate Functions, Subqueries, and Window Functions. </a:t>
            </a:r>
          </a:p>
          <a:p>
            <a:pPr>
              <a:buFont typeface=""/>
              <a:buChar char="•"/>
            </a:pPr>
            <a:r>
              <a:rPr lang="en-IN" sz="2400" dirty="0"/>
              <a:t>Improved analytical and problem-solving skills through real-world business analysis.</a:t>
            </a:r>
            <a:endParaRPr lang="en-US" sz="24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endParaRPr lang="en-US" dirty="0"/>
          </a:p>
        </p:txBody>
      </p:sp>
    </p:spTree>
    <p:extLst>
      <p:ext uri="{BB962C8B-B14F-4D97-AF65-F5344CB8AC3E}">
        <p14:creationId xmlns:p14="http://schemas.microsoft.com/office/powerpoint/2010/main" val="926074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794</Words>
  <Application>Microsoft Office PowerPoint</Application>
  <PresentationFormat>Widescreen</PresentationFormat>
  <Paragraphs>104</Paragraphs>
  <Slides>28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Arial</vt:lpstr>
      <vt:lpstr>Libre Baskerville</vt:lpstr>
      <vt:lpstr>Times New Roman</vt:lpstr>
      <vt:lpstr>Office Theme</vt:lpstr>
      <vt:lpstr>PowerPoint Presentation</vt:lpstr>
      <vt:lpstr>About me : </vt:lpstr>
      <vt:lpstr>Agenda</vt:lpstr>
      <vt:lpstr>Project Overview</vt:lpstr>
      <vt:lpstr>Objective of the Project</vt:lpstr>
      <vt:lpstr>Database Schema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Findings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koushik patel</cp:lastModifiedBy>
  <cp:revision>629</cp:revision>
  <dcterms:created xsi:type="dcterms:W3CDTF">2021-02-16T05:19:00Z</dcterms:created>
  <dcterms:modified xsi:type="dcterms:W3CDTF">2026-07-25T06:19:19Z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CE9B1B98E44D4C3B8FB359A761F35A60_12</vt:lpwstr>
  </property>
  <property fmtid="{D5CDD505-2E9C-101B-9397-08002B2CF9AE}" pid="3" name="KSOProductBuildVer">
    <vt:lpwstr>2057-12.2.0.23197</vt:lpwstr>
  </property>
</Properties>
</file>